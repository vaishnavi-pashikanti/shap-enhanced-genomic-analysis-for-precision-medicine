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14"/>
  </p:notesMasterIdLst>
  <p:sldIdLst>
    <p:sldId id="256" r:id="rId2"/>
    <p:sldId id="278" r:id="rId3"/>
    <p:sldId id="257" r:id="rId4"/>
    <p:sldId id="269" r:id="rId5"/>
    <p:sldId id="270" r:id="rId6"/>
    <p:sldId id="271" r:id="rId7"/>
    <p:sldId id="273" r:id="rId8"/>
    <p:sldId id="275" r:id="rId9"/>
    <p:sldId id="279" r:id="rId10"/>
    <p:sldId id="280" r:id="rId11"/>
    <p:sldId id="274" r:id="rId12"/>
    <p:sldId id="264" r:id="rId13"/>
  </p:sldIdLst>
  <p:sldSz cx="9144000" cy="5143500" type="screen16x9"/>
  <p:notesSz cx="6858000" cy="9144000"/>
  <p:embeddedFontLst>
    <p:embeddedFont>
      <p:font typeface="Lato" panose="020F0502020204030203" pitchFamily="34" charset="0"/>
      <p:regular r:id="rId15"/>
      <p:bold r:id="rId16"/>
      <p:italic r:id="rId17"/>
      <p:boldItalic r:id="rId18"/>
    </p:embeddedFont>
    <p:embeddedFont>
      <p:font typeface="Raleway"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54CE10-6689-4C3E-B2B8-92C508EE60B5}" v="74" dt="2025-11-23T12:52:28.3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snapToGrid="0">
      <p:cViewPr varScale="1">
        <p:scale>
          <a:sx n="103" d="100"/>
          <a:sy n="103" d="100"/>
        </p:scale>
        <p:origin x="898"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7788fcefb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7788fcefb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52CA64B2-E671-5FA0-DBBB-88522BCE5C3D}"/>
            </a:ext>
          </a:extLst>
        </p:cNvPr>
        <p:cNvGrpSpPr/>
        <p:nvPr/>
      </p:nvGrpSpPr>
      <p:grpSpPr>
        <a:xfrm>
          <a:off x="0" y="0"/>
          <a:ext cx="0" cy="0"/>
          <a:chOff x="0" y="0"/>
          <a:chExt cx="0" cy="0"/>
        </a:xfrm>
      </p:grpSpPr>
      <p:sp>
        <p:nvSpPr>
          <p:cNvPr id="139" name="Google Shape;139;g37788fcefb5_0_5:notes">
            <a:extLst>
              <a:ext uri="{FF2B5EF4-FFF2-40B4-BE49-F238E27FC236}">
                <a16:creationId xmlns:a16="http://schemas.microsoft.com/office/drawing/2014/main" id="{3C8DFFEA-685C-63C7-EBF6-5C83C316AC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7788fcefb5_0_5:notes">
            <a:extLst>
              <a:ext uri="{FF2B5EF4-FFF2-40B4-BE49-F238E27FC236}">
                <a16:creationId xmlns:a16="http://schemas.microsoft.com/office/drawing/2014/main" id="{A247EFAF-C649-B0AA-E764-D6DC24A428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6171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7788fcefb5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7788fcefb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89661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73499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7788fcefb5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7788fcefb5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29450" y="1322450"/>
            <a:ext cx="3787800" cy="19881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Clr>
                <a:schemeClr val="dk2"/>
              </a:buClr>
              <a:buSzPts val="4000"/>
              <a:buNone/>
              <a:defRPr sz="4000">
                <a:solidFill>
                  <a:schemeClr val="dk2"/>
                </a:solidFill>
              </a:defRPr>
            </a:lvl2pPr>
            <a:lvl3pPr lvl="2">
              <a:spcBef>
                <a:spcPts val="0"/>
              </a:spcBef>
              <a:spcAft>
                <a:spcPts val="0"/>
              </a:spcAft>
              <a:buClr>
                <a:schemeClr val="dk2"/>
              </a:buClr>
              <a:buSzPts val="4000"/>
              <a:buNone/>
              <a:defRPr sz="4000">
                <a:solidFill>
                  <a:schemeClr val="dk2"/>
                </a:solidFill>
              </a:defRPr>
            </a:lvl3pPr>
            <a:lvl4pPr lvl="3">
              <a:spcBef>
                <a:spcPts val="0"/>
              </a:spcBef>
              <a:spcAft>
                <a:spcPts val="0"/>
              </a:spcAft>
              <a:buClr>
                <a:schemeClr val="dk2"/>
              </a:buClr>
              <a:buSzPts val="4000"/>
              <a:buNone/>
              <a:defRPr sz="4000">
                <a:solidFill>
                  <a:schemeClr val="dk2"/>
                </a:solidFill>
              </a:defRPr>
            </a:lvl4pPr>
            <a:lvl5pPr lvl="4">
              <a:spcBef>
                <a:spcPts val="0"/>
              </a:spcBef>
              <a:spcAft>
                <a:spcPts val="0"/>
              </a:spcAft>
              <a:buClr>
                <a:schemeClr val="dk2"/>
              </a:buClr>
              <a:buSzPts val="4000"/>
              <a:buNone/>
              <a:defRPr sz="4000">
                <a:solidFill>
                  <a:schemeClr val="dk2"/>
                </a:solidFill>
              </a:defRPr>
            </a:lvl5pPr>
            <a:lvl6pPr lvl="5">
              <a:spcBef>
                <a:spcPts val="0"/>
              </a:spcBef>
              <a:spcAft>
                <a:spcPts val="0"/>
              </a:spcAft>
              <a:buClr>
                <a:schemeClr val="dk2"/>
              </a:buClr>
              <a:buSzPts val="4000"/>
              <a:buNone/>
              <a:defRPr sz="4000">
                <a:solidFill>
                  <a:schemeClr val="dk2"/>
                </a:solidFill>
              </a:defRPr>
            </a:lvl6pPr>
            <a:lvl7pPr lvl="6">
              <a:spcBef>
                <a:spcPts val="0"/>
              </a:spcBef>
              <a:spcAft>
                <a:spcPts val="0"/>
              </a:spcAft>
              <a:buClr>
                <a:schemeClr val="dk2"/>
              </a:buClr>
              <a:buSzPts val="4000"/>
              <a:buNone/>
              <a:defRPr sz="4000">
                <a:solidFill>
                  <a:schemeClr val="dk2"/>
                </a:solidFill>
              </a:defRPr>
            </a:lvl7pPr>
            <a:lvl8pPr lvl="7">
              <a:spcBef>
                <a:spcPts val="0"/>
              </a:spcBef>
              <a:spcAft>
                <a:spcPts val="0"/>
              </a:spcAft>
              <a:buClr>
                <a:schemeClr val="dk2"/>
              </a:buClr>
              <a:buSzPts val="4000"/>
              <a:buNone/>
              <a:defRPr sz="4000">
                <a:solidFill>
                  <a:schemeClr val="dk2"/>
                </a:solidFill>
              </a:defRPr>
            </a:lvl8pPr>
            <a:lvl9pPr lvl="8">
              <a:spcBef>
                <a:spcPts val="0"/>
              </a:spcBef>
              <a:spcAft>
                <a:spcPts val="0"/>
              </a:spcAft>
              <a:buClr>
                <a:schemeClr val="dk2"/>
              </a:buClr>
              <a:buSzPts val="4000"/>
              <a:buNone/>
              <a:defRPr sz="4000">
                <a:solidFill>
                  <a:schemeClr val="dk2"/>
                </a:solidFill>
              </a:defRPr>
            </a:lvl9pPr>
          </a:lstStyle>
          <a:p>
            <a:endParaRPr/>
          </a:p>
        </p:txBody>
      </p:sp>
      <p:sp>
        <p:nvSpPr>
          <p:cNvPr id="11" name="Google Shape;11;p2"/>
          <p:cNvSpPr txBox="1">
            <a:spLocks noGrp="1"/>
          </p:cNvSpPr>
          <p:nvPr>
            <p:ph type="subTitle" idx="1"/>
          </p:nvPr>
        </p:nvSpPr>
        <p:spPr>
          <a:xfrm>
            <a:off x="729595" y="3401500"/>
            <a:ext cx="3787800" cy="54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2" name="Google Shape;12;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grpSp>
        <p:nvGrpSpPr>
          <p:cNvPr id="13" name="Google Shape;13;p2"/>
          <p:cNvGrpSpPr/>
          <p:nvPr/>
        </p:nvGrpSpPr>
        <p:grpSpPr>
          <a:xfrm>
            <a:off x="830392" y="1191256"/>
            <a:ext cx="745763" cy="45826"/>
            <a:chOff x="4580561" y="2589004"/>
            <a:chExt cx="1064464" cy="25200"/>
          </a:xfrm>
        </p:grpSpPr>
        <p:sp>
          <p:nvSpPr>
            <p:cNvPr id="14" name="Google Shape;14;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1">
  <p:cSld name="TITLE_1">
    <p:bg>
      <p:bgPr>
        <a:solidFill>
          <a:schemeClr val="lt2"/>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729450" y="1322450"/>
            <a:ext cx="3787800" cy="198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4000"/>
              <a:buNone/>
              <a:defRPr sz="4000">
                <a:solidFill>
                  <a:schemeClr val="dk2"/>
                </a:solidFill>
              </a:defRPr>
            </a:lvl1pPr>
            <a:lvl2pPr lvl="1" rtl="0">
              <a:spcBef>
                <a:spcPts val="0"/>
              </a:spcBef>
              <a:spcAft>
                <a:spcPts val="0"/>
              </a:spcAft>
              <a:buClr>
                <a:schemeClr val="dk2"/>
              </a:buClr>
              <a:buSzPts val="4000"/>
              <a:buNone/>
              <a:defRPr sz="4000">
                <a:solidFill>
                  <a:schemeClr val="dk2"/>
                </a:solidFill>
              </a:defRPr>
            </a:lvl2pPr>
            <a:lvl3pPr lvl="2" rtl="0">
              <a:spcBef>
                <a:spcPts val="0"/>
              </a:spcBef>
              <a:spcAft>
                <a:spcPts val="0"/>
              </a:spcAft>
              <a:buClr>
                <a:schemeClr val="dk2"/>
              </a:buClr>
              <a:buSzPts val="4000"/>
              <a:buNone/>
              <a:defRPr sz="4000">
                <a:solidFill>
                  <a:schemeClr val="dk2"/>
                </a:solidFill>
              </a:defRPr>
            </a:lvl3pPr>
            <a:lvl4pPr lvl="3" rtl="0">
              <a:spcBef>
                <a:spcPts val="0"/>
              </a:spcBef>
              <a:spcAft>
                <a:spcPts val="0"/>
              </a:spcAft>
              <a:buClr>
                <a:schemeClr val="dk2"/>
              </a:buClr>
              <a:buSzPts val="4000"/>
              <a:buNone/>
              <a:defRPr sz="4000">
                <a:solidFill>
                  <a:schemeClr val="dk2"/>
                </a:solidFill>
              </a:defRPr>
            </a:lvl4pPr>
            <a:lvl5pPr lvl="4" rtl="0">
              <a:spcBef>
                <a:spcPts val="0"/>
              </a:spcBef>
              <a:spcAft>
                <a:spcPts val="0"/>
              </a:spcAft>
              <a:buClr>
                <a:schemeClr val="dk2"/>
              </a:buClr>
              <a:buSzPts val="4000"/>
              <a:buNone/>
              <a:defRPr sz="4000">
                <a:solidFill>
                  <a:schemeClr val="dk2"/>
                </a:solidFill>
              </a:defRPr>
            </a:lvl5pPr>
            <a:lvl6pPr lvl="5" rtl="0">
              <a:spcBef>
                <a:spcPts val="0"/>
              </a:spcBef>
              <a:spcAft>
                <a:spcPts val="0"/>
              </a:spcAft>
              <a:buClr>
                <a:schemeClr val="dk2"/>
              </a:buClr>
              <a:buSzPts val="4000"/>
              <a:buNone/>
              <a:defRPr sz="4000">
                <a:solidFill>
                  <a:schemeClr val="dk2"/>
                </a:solidFill>
              </a:defRPr>
            </a:lvl6pPr>
            <a:lvl7pPr lvl="6" rtl="0">
              <a:spcBef>
                <a:spcPts val="0"/>
              </a:spcBef>
              <a:spcAft>
                <a:spcPts val="0"/>
              </a:spcAft>
              <a:buClr>
                <a:schemeClr val="dk2"/>
              </a:buClr>
              <a:buSzPts val="4000"/>
              <a:buNone/>
              <a:defRPr sz="4000">
                <a:solidFill>
                  <a:schemeClr val="dk2"/>
                </a:solidFill>
              </a:defRPr>
            </a:lvl7pPr>
            <a:lvl8pPr lvl="7" rtl="0">
              <a:spcBef>
                <a:spcPts val="0"/>
              </a:spcBef>
              <a:spcAft>
                <a:spcPts val="0"/>
              </a:spcAft>
              <a:buClr>
                <a:schemeClr val="dk2"/>
              </a:buClr>
              <a:buSzPts val="4000"/>
              <a:buNone/>
              <a:defRPr sz="4000">
                <a:solidFill>
                  <a:schemeClr val="dk2"/>
                </a:solidFill>
              </a:defRPr>
            </a:lvl8pPr>
            <a:lvl9pPr lvl="8" rtl="0">
              <a:spcBef>
                <a:spcPts val="0"/>
              </a:spcBef>
              <a:spcAft>
                <a:spcPts val="0"/>
              </a:spcAft>
              <a:buClr>
                <a:schemeClr val="dk2"/>
              </a:buClr>
              <a:buSzPts val="4000"/>
              <a:buNone/>
              <a:defRPr sz="4000">
                <a:solidFill>
                  <a:schemeClr val="dk2"/>
                </a:solidFill>
              </a:defRPr>
            </a:lvl9pPr>
          </a:lstStyle>
          <a:p>
            <a:endParaRPr/>
          </a:p>
        </p:txBody>
      </p:sp>
      <p:sp>
        <p:nvSpPr>
          <p:cNvPr id="19" name="Google Shape;19;p3"/>
          <p:cNvSpPr txBox="1">
            <a:spLocks noGrp="1"/>
          </p:cNvSpPr>
          <p:nvPr>
            <p:ph type="subTitle" idx="1"/>
          </p:nvPr>
        </p:nvSpPr>
        <p:spPr>
          <a:xfrm>
            <a:off x="729595" y="3401500"/>
            <a:ext cx="3787800" cy="54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20" name="Google Shape;20;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grpSp>
        <p:nvGrpSpPr>
          <p:cNvPr id="21" name="Google Shape;21;p3"/>
          <p:cNvGrpSpPr/>
          <p:nvPr/>
        </p:nvGrpSpPr>
        <p:grpSpPr>
          <a:xfrm>
            <a:off x="830392" y="1191256"/>
            <a:ext cx="745763" cy="45826"/>
            <a:chOff x="4580561" y="2589004"/>
            <a:chExt cx="1064464" cy="25200"/>
          </a:xfrm>
        </p:grpSpPr>
        <p:sp>
          <p:nvSpPr>
            <p:cNvPr id="22" name="Google Shape;22;p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24;p3"/>
          <p:cNvSpPr/>
          <p:nvPr/>
        </p:nvSpPr>
        <p:spPr>
          <a:xfrm>
            <a:off x="0" y="1"/>
            <a:ext cx="9144000" cy="467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3"/>
          <p:cNvGrpSpPr/>
          <p:nvPr/>
        </p:nvGrpSpPr>
        <p:grpSpPr>
          <a:xfrm>
            <a:off x="5063224" y="1313339"/>
            <a:ext cx="3459829" cy="2670551"/>
            <a:chOff x="3553042" y="1657806"/>
            <a:chExt cx="3461100" cy="2671532"/>
          </a:xfrm>
        </p:grpSpPr>
        <p:sp>
          <p:nvSpPr>
            <p:cNvPr id="26" name="Google Shape;26;p3"/>
            <p:cNvSpPr/>
            <p:nvPr/>
          </p:nvSpPr>
          <p:spPr>
            <a:xfrm>
              <a:off x="4856024" y="3625653"/>
              <a:ext cx="944700" cy="663300"/>
            </a:xfrm>
            <a:prstGeom prst="trapezoid">
              <a:avLst>
                <a:gd name="adj" fmla="val 2500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10800000">
              <a:off x="4953871" y="3681997"/>
              <a:ext cx="400200" cy="606600"/>
            </a:xfrm>
            <a:prstGeom prst="triangle">
              <a:avLst>
                <a:gd name="adj" fmla="val 96745"/>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4767796" y="3681816"/>
              <a:ext cx="163500" cy="606600"/>
            </a:xfrm>
            <a:prstGeom prst="triangle">
              <a:avLst>
                <a:gd name="adj" fmla="val 98558"/>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10800000">
              <a:off x="4678237" y="4276102"/>
              <a:ext cx="1210800" cy="45600"/>
            </a:xfrm>
            <a:prstGeom prst="roundRect">
              <a:avLst>
                <a:gd name="adj" fmla="val 500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10800000">
              <a:off x="4668343" y="4283738"/>
              <a:ext cx="1230600" cy="45600"/>
            </a:xfrm>
            <a:prstGeom prst="roundRect">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4926950" y="3681915"/>
              <a:ext cx="42900" cy="5943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3553042" y="1674645"/>
              <a:ext cx="3461100" cy="2014500"/>
            </a:xfrm>
            <a:prstGeom prst="roundRect">
              <a:avLst>
                <a:gd name="adj" fmla="val 1882"/>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3553042" y="1657806"/>
              <a:ext cx="3461100" cy="2014500"/>
            </a:xfrm>
            <a:prstGeom prst="roundRect">
              <a:avLst>
                <a:gd name="adj" fmla="val 1764"/>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4" name="Google Shape;34;p3" descr="Component Detail"/>
          <p:cNvPicPr preferRelativeResize="0"/>
          <p:nvPr/>
        </p:nvPicPr>
        <p:blipFill rotWithShape="1">
          <a:blip r:embed="rId2">
            <a:alphaModFix/>
          </a:blip>
          <a:srcRect b="25076"/>
          <a:stretch/>
        </p:blipFill>
        <p:spPr>
          <a:xfrm>
            <a:off x="5161725" y="1399791"/>
            <a:ext cx="3262825" cy="1833425"/>
          </a:xfrm>
          <a:prstGeom prst="rect">
            <a:avLst/>
          </a:prstGeom>
          <a:noFill/>
          <a:ln>
            <a:noFill/>
          </a:ln>
        </p:spPr>
      </p:pic>
      <p:sp>
        <p:nvSpPr>
          <p:cNvPr id="35" name="Google Shape;35;p3"/>
          <p:cNvSpPr/>
          <p:nvPr/>
        </p:nvSpPr>
        <p:spPr>
          <a:xfrm flipH="1">
            <a:off x="5156196" y="1401826"/>
            <a:ext cx="3268577" cy="1812993"/>
          </a:xfrm>
          <a:prstGeom prst="rtTriangle">
            <a:avLst/>
          </a:prstGeom>
          <a:solidFill>
            <a:srgbClr val="000000">
              <a:alpha val="3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36;p3"/>
          <p:cNvGrpSpPr/>
          <p:nvPr/>
        </p:nvGrpSpPr>
        <p:grpSpPr>
          <a:xfrm>
            <a:off x="7666681" y="2077877"/>
            <a:ext cx="1148179" cy="2282764"/>
            <a:chOff x="7666681" y="2077877"/>
            <a:chExt cx="1148179" cy="2282764"/>
          </a:xfrm>
        </p:grpSpPr>
        <p:grpSp>
          <p:nvGrpSpPr>
            <p:cNvPr id="37" name="Google Shape;37;p3"/>
            <p:cNvGrpSpPr/>
            <p:nvPr/>
          </p:nvGrpSpPr>
          <p:grpSpPr>
            <a:xfrm>
              <a:off x="7666681" y="2077877"/>
              <a:ext cx="1148179" cy="2282764"/>
              <a:chOff x="3983627" y="1676395"/>
              <a:chExt cx="1449538" cy="2881914"/>
            </a:xfrm>
          </p:grpSpPr>
          <p:sp>
            <p:nvSpPr>
              <p:cNvPr id="38" name="Google Shape;38;p3"/>
              <p:cNvSpPr/>
              <p:nvPr/>
            </p:nvSpPr>
            <p:spPr>
              <a:xfrm rot="-5400000">
                <a:off x="3276827" y="2404608"/>
                <a:ext cx="2860500" cy="1446900"/>
              </a:xfrm>
              <a:prstGeom prst="roundRect">
                <a:avLst>
                  <a:gd name="adj" fmla="val 4551"/>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rot="-5400000">
                <a:off x="3279465" y="2383195"/>
                <a:ext cx="2860500" cy="1446900"/>
              </a:xfrm>
              <a:prstGeom prst="roundRect">
                <a:avLst>
                  <a:gd name="adj" fmla="val 4551"/>
                </a:avLst>
              </a:pr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4473243" y="4318802"/>
                <a:ext cx="472800" cy="76800"/>
              </a:xfrm>
              <a:prstGeom prst="roundRect">
                <a:avLst>
                  <a:gd name="adj" fmla="val 50000"/>
                </a:avLst>
              </a:prstGeom>
              <a:solidFill>
                <a:srgbClr val="4B4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1" name="Google Shape;41;p3" descr="Mobile View"/>
            <p:cNvPicPr preferRelativeResize="0"/>
            <p:nvPr/>
          </p:nvPicPr>
          <p:blipFill rotWithShape="1">
            <a:blip r:embed="rId3">
              <a:alphaModFix/>
            </a:blip>
            <a:srcRect t="4362" b="4371"/>
            <a:stretch/>
          </p:blipFill>
          <p:spPr>
            <a:xfrm>
              <a:off x="7720839" y="2222723"/>
              <a:ext cx="1037555" cy="1833418"/>
            </a:xfrm>
            <a:prstGeom prst="rect">
              <a:avLst/>
            </a:prstGeom>
            <a:noFill/>
            <a:ln>
              <a:noFill/>
            </a:ln>
          </p:spPr>
        </p:pic>
        <p:sp>
          <p:nvSpPr>
            <p:cNvPr id="42" name="Google Shape;42;p3"/>
            <p:cNvSpPr/>
            <p:nvPr/>
          </p:nvSpPr>
          <p:spPr>
            <a:xfrm flipH="1">
              <a:off x="7722342" y="2222973"/>
              <a:ext cx="1037700" cy="1833000"/>
            </a:xfrm>
            <a:prstGeom prst="rtTriangle">
              <a:avLst/>
            </a:prstGeom>
            <a:solidFill>
              <a:srgbClr val="000000">
                <a:alpha val="3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3"/>
        <p:cNvGrpSpPr/>
        <p:nvPr/>
      </p:nvGrpSpPr>
      <p:grpSpPr>
        <a:xfrm>
          <a:off x="0" y="0"/>
          <a:ext cx="0" cy="0"/>
          <a:chOff x="0" y="0"/>
          <a:chExt cx="0" cy="0"/>
        </a:xfrm>
      </p:grpSpPr>
      <p:grpSp>
        <p:nvGrpSpPr>
          <p:cNvPr id="44" name="Google Shape;44;p4"/>
          <p:cNvGrpSpPr/>
          <p:nvPr/>
        </p:nvGrpSpPr>
        <p:grpSpPr>
          <a:xfrm>
            <a:off x="830392" y="1191256"/>
            <a:ext cx="745763" cy="45826"/>
            <a:chOff x="4580561" y="2589004"/>
            <a:chExt cx="1064464" cy="25200"/>
          </a:xfrm>
        </p:grpSpPr>
        <p:sp>
          <p:nvSpPr>
            <p:cNvPr id="45" name="Google Shape;45;p4"/>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4"/>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a:endParaRPr/>
          </a:p>
        </p:txBody>
      </p:sp>
      <p:sp>
        <p:nvSpPr>
          <p:cNvPr id="48" name="Google Shape;48;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9"/>
        <p:cNvGrpSpPr/>
        <p:nvPr/>
      </p:nvGrpSpPr>
      <p:grpSpPr>
        <a:xfrm>
          <a:off x="0" y="0"/>
          <a:ext cx="0" cy="0"/>
          <a:chOff x="0" y="0"/>
          <a:chExt cx="0" cy="0"/>
        </a:xfrm>
      </p:grpSpPr>
      <p:sp>
        <p:nvSpPr>
          <p:cNvPr id="50" name="Google Shape;50;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 name="Google Shape;51;p5"/>
          <p:cNvGrpSpPr/>
          <p:nvPr/>
        </p:nvGrpSpPr>
        <p:grpSpPr>
          <a:xfrm>
            <a:off x="830392" y="1191256"/>
            <a:ext cx="745763" cy="45826"/>
            <a:chOff x="4580561" y="2589004"/>
            <a:chExt cx="1064464" cy="25200"/>
          </a:xfrm>
        </p:grpSpPr>
        <p:sp>
          <p:nvSpPr>
            <p:cNvPr id="52" name="Google Shape;52;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 name="Google Shape;54;p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a:endParaRPr/>
          </a:p>
        </p:txBody>
      </p:sp>
      <p:sp>
        <p:nvSpPr>
          <p:cNvPr id="55" name="Google Shape;55;p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6" name="Google Shape;56;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7"/>
        <p:cNvGrpSpPr/>
        <p:nvPr/>
      </p:nvGrpSpPr>
      <p:grpSpPr>
        <a:xfrm>
          <a:off x="0" y="0"/>
          <a:ext cx="0" cy="0"/>
          <a:chOff x="0" y="0"/>
          <a:chExt cx="0" cy="0"/>
        </a:xfrm>
      </p:grpSpPr>
      <p:sp>
        <p:nvSpPr>
          <p:cNvPr id="58" name="Google Shape;58;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 name="Google Shape;59;p6"/>
          <p:cNvGrpSpPr/>
          <p:nvPr/>
        </p:nvGrpSpPr>
        <p:grpSpPr>
          <a:xfrm>
            <a:off x="830392" y="1191256"/>
            <a:ext cx="745763" cy="45826"/>
            <a:chOff x="4580561" y="2589004"/>
            <a:chExt cx="1064464" cy="25200"/>
          </a:xfrm>
        </p:grpSpPr>
        <p:sp>
          <p:nvSpPr>
            <p:cNvPr id="60" name="Google Shape;60;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 name="Google Shape;62;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a:endParaRPr/>
          </a:p>
        </p:txBody>
      </p:sp>
      <p:sp>
        <p:nvSpPr>
          <p:cNvPr id="63" name="Google Shape;63;p6"/>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4" name="Google Shape;64;p6"/>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5" name="Google Shape;65;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6"/>
        <p:cNvGrpSpPr/>
        <p:nvPr/>
      </p:nvGrpSpPr>
      <p:grpSpPr>
        <a:xfrm>
          <a:off x="0" y="0"/>
          <a:ext cx="0" cy="0"/>
          <a:chOff x="0" y="0"/>
          <a:chExt cx="0" cy="0"/>
        </a:xfrm>
      </p:grpSpPr>
      <p:sp>
        <p:nvSpPr>
          <p:cNvPr id="67" name="Google Shape;67;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 name="Google Shape;68;p7"/>
          <p:cNvGrpSpPr/>
          <p:nvPr/>
        </p:nvGrpSpPr>
        <p:grpSpPr>
          <a:xfrm>
            <a:off x="830392" y="1191256"/>
            <a:ext cx="745763" cy="45826"/>
            <a:chOff x="4580561" y="2589004"/>
            <a:chExt cx="1064464" cy="25200"/>
          </a:xfrm>
        </p:grpSpPr>
        <p:sp>
          <p:nvSpPr>
            <p:cNvPr id="69" name="Google Shape;69;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 name="Google Shape;71;p7"/>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a:endParaRPr/>
          </a:p>
        </p:txBody>
      </p:sp>
      <p:sp>
        <p:nvSpPr>
          <p:cNvPr id="72" name="Google Shape;72;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73"/>
        <p:cNvGrpSpPr/>
        <p:nvPr/>
      </p:nvGrpSpPr>
      <p:grpSpPr>
        <a:xfrm>
          <a:off x="0" y="0"/>
          <a:ext cx="0" cy="0"/>
          <a:chOff x="0" y="0"/>
          <a:chExt cx="0" cy="0"/>
        </a:xfrm>
      </p:grpSpPr>
      <p:sp>
        <p:nvSpPr>
          <p:cNvPr id="74" name="Google Shape;74;p8"/>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6"/>
        <p:cNvGrpSpPr/>
        <p:nvPr/>
      </p:nvGrpSpPr>
      <p:grpSpPr>
        <a:xfrm>
          <a:off x="0" y="0"/>
          <a:ext cx="0" cy="0"/>
          <a:chOff x="0" y="0"/>
          <a:chExt cx="0" cy="0"/>
        </a:xfrm>
      </p:grpSpPr>
      <p:sp>
        <p:nvSpPr>
          <p:cNvPr id="77" name="Google Shape;77;p9"/>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9"/>
          <p:cNvGrpSpPr/>
          <p:nvPr/>
        </p:nvGrpSpPr>
        <p:grpSpPr>
          <a:xfrm>
            <a:off x="830392" y="1191256"/>
            <a:ext cx="745763" cy="45826"/>
            <a:chOff x="4580561" y="2589004"/>
            <a:chExt cx="1064464" cy="25200"/>
          </a:xfrm>
        </p:grpSpPr>
        <p:sp>
          <p:nvSpPr>
            <p:cNvPr id="79" name="Google Shape;79;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9"/>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a:endParaRPr/>
          </a:p>
        </p:txBody>
      </p:sp>
      <p:sp>
        <p:nvSpPr>
          <p:cNvPr id="82" name="Google Shape;82;p9"/>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83" name="Google Shape;83;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84"/>
        <p:cNvGrpSpPr/>
        <p:nvPr/>
      </p:nvGrpSpPr>
      <p:grpSpPr>
        <a:xfrm>
          <a:off x="0" y="0"/>
          <a:ext cx="0" cy="0"/>
          <a:chOff x="0" y="0"/>
          <a:chExt cx="0" cy="0"/>
        </a:xfrm>
      </p:grpSpPr>
      <p:grpSp>
        <p:nvGrpSpPr>
          <p:cNvPr id="85" name="Google Shape;85;p10"/>
          <p:cNvGrpSpPr/>
          <p:nvPr/>
        </p:nvGrpSpPr>
        <p:grpSpPr>
          <a:xfrm>
            <a:off x="830392" y="4169130"/>
            <a:ext cx="745763" cy="45826"/>
            <a:chOff x="4580561" y="2589004"/>
            <a:chExt cx="1064464" cy="25200"/>
          </a:xfrm>
        </p:grpSpPr>
        <p:sp>
          <p:nvSpPr>
            <p:cNvPr id="86" name="Google Shape;86;p1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10"/>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a:endParaRPr/>
          </a:p>
        </p:txBody>
      </p:sp>
      <p:sp>
        <p:nvSpPr>
          <p:cNvPr id="89" name="Google Shape;89;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0"/>
        <p:cNvGrpSpPr/>
        <p:nvPr/>
      </p:nvGrpSpPr>
      <p:grpSpPr>
        <a:xfrm>
          <a:off x="0" y="0"/>
          <a:ext cx="0" cy="0"/>
          <a:chOff x="0" y="0"/>
          <a:chExt cx="0" cy="0"/>
        </a:xfrm>
      </p:grpSpPr>
      <p:sp>
        <p:nvSpPr>
          <p:cNvPr id="91" name="Google Shape;91;p11"/>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 name="Google Shape;92;p11"/>
          <p:cNvGrpSpPr/>
          <p:nvPr/>
        </p:nvGrpSpPr>
        <p:grpSpPr>
          <a:xfrm>
            <a:off x="830392" y="1191256"/>
            <a:ext cx="745763" cy="45826"/>
            <a:chOff x="4580561" y="2589004"/>
            <a:chExt cx="1064464" cy="25200"/>
          </a:xfrm>
        </p:grpSpPr>
        <p:sp>
          <p:nvSpPr>
            <p:cNvPr id="93" name="Google Shape;93;p1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11"/>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a:endParaRPr/>
          </a:p>
        </p:txBody>
      </p:sp>
      <p:sp>
        <p:nvSpPr>
          <p:cNvPr id="96" name="Google Shape;96;p11"/>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97" name="Google Shape;97;p11"/>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
    <p:spTree>
      <p:nvGrpSpPr>
        <p:cNvPr id="1" name="Shape 99"/>
        <p:cNvGrpSpPr/>
        <p:nvPr/>
      </p:nvGrpSpPr>
      <p:grpSpPr>
        <a:xfrm>
          <a:off x="0" y="0"/>
          <a:ext cx="0" cy="0"/>
          <a:chOff x="0" y="0"/>
          <a:chExt cx="0" cy="0"/>
        </a:xfrm>
      </p:grpSpPr>
      <p:pic>
        <p:nvPicPr>
          <p:cNvPr id="100" name="Google Shape;100;p12" descr="Side view of hands writing in a notebook at a cafe"/>
          <p:cNvPicPr preferRelativeResize="0"/>
          <p:nvPr/>
        </p:nvPicPr>
        <p:blipFill rotWithShape="1">
          <a:blip r:embed="rId2">
            <a:alphaModFix/>
          </a:blip>
          <a:srcRect l="9050" t="12064" r="54351" b="26446"/>
          <a:stretch/>
        </p:blipFill>
        <p:spPr>
          <a:xfrm>
            <a:off x="1" y="-50"/>
            <a:ext cx="4572000" cy="5143501"/>
          </a:xfrm>
          <a:prstGeom prst="rect">
            <a:avLst/>
          </a:prstGeom>
          <a:noFill/>
          <a:ln>
            <a:noFill/>
          </a:ln>
        </p:spPr>
      </p:pic>
      <p:sp>
        <p:nvSpPr>
          <p:cNvPr id="101" name="Google Shape;101;p12"/>
          <p:cNvSpPr/>
          <p:nvPr/>
        </p:nvSpPr>
        <p:spPr>
          <a:xfrm>
            <a:off x="1650" y="0"/>
            <a:ext cx="4568700" cy="5143500"/>
          </a:xfrm>
          <a:prstGeom prst="rect">
            <a:avLst/>
          </a:prstGeom>
          <a:solidFill>
            <a:srgbClr val="178D7D">
              <a:alpha val="68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 name="Google Shape;102;p12"/>
          <p:cNvGrpSpPr/>
          <p:nvPr/>
        </p:nvGrpSpPr>
        <p:grpSpPr>
          <a:xfrm>
            <a:off x="830392" y="1191256"/>
            <a:ext cx="745763" cy="45826"/>
            <a:chOff x="4580561" y="2589004"/>
            <a:chExt cx="1064464" cy="25200"/>
          </a:xfrm>
        </p:grpSpPr>
        <p:sp>
          <p:nvSpPr>
            <p:cNvPr id="103" name="Google Shape;103;p12"/>
            <p:cNvSpPr/>
            <p:nvPr/>
          </p:nvSpPr>
          <p:spPr>
            <a:xfrm rot="-5400000">
              <a:off x="5366325" y="2335504"/>
              <a:ext cx="25200" cy="532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2"/>
            <p:cNvSpPr/>
            <p:nvPr/>
          </p:nvSpPr>
          <p:spPr>
            <a:xfrm rot="-5400000">
              <a:off x="4836311" y="2333254"/>
              <a:ext cx="25200" cy="5367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 name="Google Shape;105;p12"/>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a:endParaRPr/>
          </a:p>
        </p:txBody>
      </p:sp>
      <p:sp>
        <p:nvSpPr>
          <p:cNvPr id="106" name="Google Shape;106;p12"/>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a:endParaRPr/>
          </a:p>
        </p:txBody>
      </p:sp>
      <p:sp>
        <p:nvSpPr>
          <p:cNvPr id="107" name="Google Shape;107;p12"/>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08" name="Google Shape;108;p12"/>
          <p:cNvSpPr txBox="1">
            <a:spLocks noGrp="1"/>
          </p:cNvSpPr>
          <p:nvPr>
            <p:ph type="sldNum" idx="12"/>
          </p:nvPr>
        </p:nvSpPr>
        <p:spPr>
          <a:xfrm>
            <a:off x="8536300" y="4749850"/>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1 2">
  <p:cSld name="SECTION_TITLE_AND_DESCRIPTION_1_2">
    <p:spTree>
      <p:nvGrpSpPr>
        <p:cNvPr id="1" name="Shape 109"/>
        <p:cNvGrpSpPr/>
        <p:nvPr/>
      </p:nvGrpSpPr>
      <p:grpSpPr>
        <a:xfrm>
          <a:off x="0" y="0"/>
          <a:ext cx="0" cy="0"/>
          <a:chOff x="0" y="0"/>
          <a:chExt cx="0" cy="0"/>
        </a:xfrm>
      </p:grpSpPr>
      <p:pic>
        <p:nvPicPr>
          <p:cNvPr id="110" name="Google Shape;110;p13"/>
          <p:cNvPicPr preferRelativeResize="0"/>
          <p:nvPr/>
        </p:nvPicPr>
        <p:blipFill rotWithShape="1">
          <a:blip r:embed="rId2">
            <a:alphaModFix/>
          </a:blip>
          <a:srcRect l="31883" t="8096" r="25713"/>
          <a:stretch/>
        </p:blipFill>
        <p:spPr>
          <a:xfrm>
            <a:off x="0" y="0"/>
            <a:ext cx="4575250" cy="5143500"/>
          </a:xfrm>
          <a:prstGeom prst="rect">
            <a:avLst/>
          </a:prstGeom>
          <a:noFill/>
          <a:ln>
            <a:noFill/>
          </a:ln>
        </p:spPr>
      </p:pic>
      <p:sp>
        <p:nvSpPr>
          <p:cNvPr id="111" name="Google Shape;111;p13"/>
          <p:cNvSpPr/>
          <p:nvPr/>
        </p:nvSpPr>
        <p:spPr>
          <a:xfrm>
            <a:off x="-75" y="0"/>
            <a:ext cx="4572000" cy="5143500"/>
          </a:xfrm>
          <a:prstGeom prst="rect">
            <a:avLst/>
          </a:prstGeom>
          <a:solidFill>
            <a:srgbClr val="178D7D">
              <a:alpha val="68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 name="Google Shape;112;p13"/>
          <p:cNvGrpSpPr/>
          <p:nvPr/>
        </p:nvGrpSpPr>
        <p:grpSpPr>
          <a:xfrm>
            <a:off x="830392" y="1191256"/>
            <a:ext cx="745763" cy="45826"/>
            <a:chOff x="4580561" y="2589004"/>
            <a:chExt cx="1064464" cy="25200"/>
          </a:xfrm>
        </p:grpSpPr>
        <p:sp>
          <p:nvSpPr>
            <p:cNvPr id="113" name="Google Shape;113;p13"/>
            <p:cNvSpPr/>
            <p:nvPr/>
          </p:nvSpPr>
          <p:spPr>
            <a:xfrm rot="-5400000">
              <a:off x="5366325" y="2335504"/>
              <a:ext cx="25200" cy="532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3"/>
            <p:cNvSpPr/>
            <p:nvPr/>
          </p:nvSpPr>
          <p:spPr>
            <a:xfrm rot="-5400000">
              <a:off x="4836311" y="2333254"/>
              <a:ext cx="25200" cy="5367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13"/>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a:endParaRPr/>
          </a:p>
        </p:txBody>
      </p:sp>
      <p:sp>
        <p:nvSpPr>
          <p:cNvPr id="116" name="Google Shape;116;p13"/>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a:endParaRPr/>
          </a:p>
        </p:txBody>
      </p:sp>
      <p:sp>
        <p:nvSpPr>
          <p:cNvPr id="117" name="Google Shape;117;p13"/>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18" name="Google Shape;118;p1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9"/>
        <p:cNvGrpSpPr/>
        <p:nvPr/>
      </p:nvGrpSpPr>
      <p:grpSpPr>
        <a:xfrm>
          <a:off x="0" y="0"/>
          <a:ext cx="0" cy="0"/>
          <a:chOff x="0" y="0"/>
          <a:chExt cx="0" cy="0"/>
        </a:xfrm>
      </p:grpSpPr>
      <p:sp>
        <p:nvSpPr>
          <p:cNvPr id="120" name="Google Shape;120;p14"/>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121" name="Google Shape;121;p1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22"/>
        <p:cNvGrpSpPr/>
        <p:nvPr/>
      </p:nvGrpSpPr>
      <p:grpSpPr>
        <a:xfrm>
          <a:off x="0" y="0"/>
          <a:ext cx="0" cy="0"/>
          <a:chOff x="0" y="0"/>
          <a:chExt cx="0" cy="0"/>
        </a:xfrm>
      </p:grpSpPr>
      <p:grpSp>
        <p:nvGrpSpPr>
          <p:cNvPr id="123" name="Google Shape;123;p15"/>
          <p:cNvGrpSpPr/>
          <p:nvPr/>
        </p:nvGrpSpPr>
        <p:grpSpPr>
          <a:xfrm>
            <a:off x="830392" y="4169130"/>
            <a:ext cx="745763" cy="45826"/>
            <a:chOff x="4580561" y="2589004"/>
            <a:chExt cx="1064464" cy="25200"/>
          </a:xfrm>
        </p:grpSpPr>
        <p:sp>
          <p:nvSpPr>
            <p:cNvPr id="124" name="Google Shape;124;p15"/>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5"/>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 name="Google Shape;126;p15"/>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27" name="Google Shape;127;p15"/>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1600"/>
              </a:spcBef>
              <a:spcAft>
                <a:spcPts val="0"/>
              </a:spcAft>
              <a:buClr>
                <a:schemeClr val="lt1"/>
              </a:buClr>
              <a:buSzPts val="1100"/>
              <a:buChar char="○"/>
              <a:defRPr>
                <a:solidFill>
                  <a:schemeClr val="lt1"/>
                </a:solidFill>
              </a:defRPr>
            </a:lvl2pPr>
            <a:lvl3pPr marL="1371600" lvl="2" indent="-298450">
              <a:spcBef>
                <a:spcPts val="1600"/>
              </a:spcBef>
              <a:spcAft>
                <a:spcPts val="0"/>
              </a:spcAft>
              <a:buClr>
                <a:schemeClr val="lt1"/>
              </a:buClr>
              <a:buSzPts val="1100"/>
              <a:buChar char="■"/>
              <a:defRPr>
                <a:solidFill>
                  <a:schemeClr val="lt1"/>
                </a:solidFill>
              </a:defRPr>
            </a:lvl3pPr>
            <a:lvl4pPr marL="1828800" lvl="3" indent="-298450">
              <a:spcBef>
                <a:spcPts val="1600"/>
              </a:spcBef>
              <a:spcAft>
                <a:spcPts val="0"/>
              </a:spcAft>
              <a:buClr>
                <a:schemeClr val="lt1"/>
              </a:buClr>
              <a:buSzPts val="1100"/>
              <a:buChar char="●"/>
              <a:defRPr>
                <a:solidFill>
                  <a:schemeClr val="lt1"/>
                </a:solidFill>
              </a:defRPr>
            </a:lvl4pPr>
            <a:lvl5pPr marL="2286000" lvl="4" indent="-298450">
              <a:spcBef>
                <a:spcPts val="1600"/>
              </a:spcBef>
              <a:spcAft>
                <a:spcPts val="0"/>
              </a:spcAft>
              <a:buClr>
                <a:schemeClr val="lt1"/>
              </a:buClr>
              <a:buSzPts val="1100"/>
              <a:buChar char="○"/>
              <a:defRPr>
                <a:solidFill>
                  <a:schemeClr val="lt1"/>
                </a:solidFill>
              </a:defRPr>
            </a:lvl5pPr>
            <a:lvl6pPr marL="2743200" lvl="5" indent="-298450">
              <a:spcBef>
                <a:spcPts val="1600"/>
              </a:spcBef>
              <a:spcAft>
                <a:spcPts val="0"/>
              </a:spcAft>
              <a:buClr>
                <a:schemeClr val="lt1"/>
              </a:buClr>
              <a:buSzPts val="1100"/>
              <a:buChar char="■"/>
              <a:defRPr>
                <a:solidFill>
                  <a:schemeClr val="lt1"/>
                </a:solidFill>
              </a:defRPr>
            </a:lvl6pPr>
            <a:lvl7pPr marL="3200400" lvl="6" indent="-298450">
              <a:spcBef>
                <a:spcPts val="1600"/>
              </a:spcBef>
              <a:spcAft>
                <a:spcPts val="0"/>
              </a:spcAft>
              <a:buClr>
                <a:schemeClr val="lt1"/>
              </a:buClr>
              <a:buSzPts val="1100"/>
              <a:buChar char="●"/>
              <a:defRPr>
                <a:solidFill>
                  <a:schemeClr val="lt1"/>
                </a:solidFill>
              </a:defRPr>
            </a:lvl7pPr>
            <a:lvl8pPr marL="3657600" lvl="7" indent="-298450">
              <a:spcBef>
                <a:spcPts val="1600"/>
              </a:spcBef>
              <a:spcAft>
                <a:spcPts val="0"/>
              </a:spcAft>
              <a:buClr>
                <a:schemeClr val="lt1"/>
              </a:buClr>
              <a:buSzPts val="1100"/>
              <a:buChar char="○"/>
              <a:defRPr>
                <a:solidFill>
                  <a:schemeClr val="lt1"/>
                </a:solidFill>
              </a:defRPr>
            </a:lvl8pPr>
            <a:lvl9pPr marL="4114800" lvl="8" indent="-298450">
              <a:spcBef>
                <a:spcPts val="1600"/>
              </a:spcBef>
              <a:spcAft>
                <a:spcPts val="1600"/>
              </a:spcAft>
              <a:buClr>
                <a:schemeClr val="lt1"/>
              </a:buClr>
              <a:buSzPts val="1100"/>
              <a:buChar char="■"/>
              <a:defRPr>
                <a:solidFill>
                  <a:schemeClr val="lt1"/>
                </a:solidFill>
              </a:defRPr>
            </a:lvl9pPr>
          </a:lstStyle>
          <a:p>
            <a:endParaRPr/>
          </a:p>
        </p:txBody>
      </p:sp>
      <p:sp>
        <p:nvSpPr>
          <p:cNvPr id="128" name="Google Shape;128;p1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9"/>
        <p:cNvGrpSpPr/>
        <p:nvPr/>
      </p:nvGrpSpPr>
      <p:grpSpPr>
        <a:xfrm>
          <a:off x="0" y="0"/>
          <a:ext cx="0" cy="0"/>
          <a:chOff x="0" y="0"/>
          <a:chExt cx="0" cy="0"/>
        </a:xfrm>
      </p:grpSpPr>
      <p:sp>
        <p:nvSpPr>
          <p:cNvPr id="130" name="Google Shape;130;p1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Raleway"/>
              <a:buNone/>
              <a:defRPr sz="2800" b="1">
                <a:latin typeface="Raleway"/>
                <a:ea typeface="Raleway"/>
                <a:cs typeface="Raleway"/>
                <a:sym typeface="Raleway"/>
              </a:defRPr>
            </a:lvl1pPr>
            <a:lvl2pPr lvl="1">
              <a:spcBef>
                <a:spcPts val="0"/>
              </a:spcBef>
              <a:spcAft>
                <a:spcPts val="0"/>
              </a:spcAft>
              <a:buSzPts val="2800"/>
              <a:buFont typeface="Raleway"/>
              <a:buNone/>
              <a:defRPr sz="2800" b="1">
                <a:latin typeface="Raleway"/>
                <a:ea typeface="Raleway"/>
                <a:cs typeface="Raleway"/>
                <a:sym typeface="Raleway"/>
              </a:defRPr>
            </a:lvl2pPr>
            <a:lvl3pPr lvl="2">
              <a:spcBef>
                <a:spcPts val="0"/>
              </a:spcBef>
              <a:spcAft>
                <a:spcPts val="0"/>
              </a:spcAft>
              <a:buSzPts val="2800"/>
              <a:buFont typeface="Raleway"/>
              <a:buNone/>
              <a:defRPr sz="2800" b="1">
                <a:latin typeface="Raleway"/>
                <a:ea typeface="Raleway"/>
                <a:cs typeface="Raleway"/>
                <a:sym typeface="Raleway"/>
              </a:defRPr>
            </a:lvl3pPr>
            <a:lvl4pPr lvl="3">
              <a:spcBef>
                <a:spcPts val="0"/>
              </a:spcBef>
              <a:spcAft>
                <a:spcPts val="0"/>
              </a:spcAft>
              <a:buSzPts val="2800"/>
              <a:buFont typeface="Raleway"/>
              <a:buNone/>
              <a:defRPr sz="2800" b="1">
                <a:latin typeface="Raleway"/>
                <a:ea typeface="Raleway"/>
                <a:cs typeface="Raleway"/>
                <a:sym typeface="Raleway"/>
              </a:defRPr>
            </a:lvl4pPr>
            <a:lvl5pPr lvl="4">
              <a:spcBef>
                <a:spcPts val="0"/>
              </a:spcBef>
              <a:spcAft>
                <a:spcPts val="0"/>
              </a:spcAft>
              <a:buSzPts val="2800"/>
              <a:buFont typeface="Raleway"/>
              <a:buNone/>
              <a:defRPr sz="2800" b="1">
                <a:latin typeface="Raleway"/>
                <a:ea typeface="Raleway"/>
                <a:cs typeface="Raleway"/>
                <a:sym typeface="Raleway"/>
              </a:defRPr>
            </a:lvl5pPr>
            <a:lvl6pPr lvl="5">
              <a:spcBef>
                <a:spcPts val="0"/>
              </a:spcBef>
              <a:spcAft>
                <a:spcPts val="0"/>
              </a:spcAft>
              <a:buSzPts val="2800"/>
              <a:buFont typeface="Raleway"/>
              <a:buNone/>
              <a:defRPr sz="2800" b="1">
                <a:latin typeface="Raleway"/>
                <a:ea typeface="Raleway"/>
                <a:cs typeface="Raleway"/>
                <a:sym typeface="Raleway"/>
              </a:defRPr>
            </a:lvl6pPr>
            <a:lvl7pPr lvl="6">
              <a:spcBef>
                <a:spcPts val="0"/>
              </a:spcBef>
              <a:spcAft>
                <a:spcPts val="0"/>
              </a:spcAft>
              <a:buSzPts val="2800"/>
              <a:buFont typeface="Raleway"/>
              <a:buNone/>
              <a:defRPr sz="2800" b="1">
                <a:latin typeface="Raleway"/>
                <a:ea typeface="Raleway"/>
                <a:cs typeface="Raleway"/>
                <a:sym typeface="Raleway"/>
              </a:defRPr>
            </a:lvl7pPr>
            <a:lvl8pPr lvl="7">
              <a:spcBef>
                <a:spcPts val="0"/>
              </a:spcBef>
              <a:spcAft>
                <a:spcPts val="0"/>
              </a:spcAft>
              <a:buSzPts val="2800"/>
              <a:buFont typeface="Raleway"/>
              <a:buNone/>
              <a:defRPr sz="2800" b="1">
                <a:latin typeface="Raleway"/>
                <a:ea typeface="Raleway"/>
                <a:cs typeface="Raleway"/>
                <a:sym typeface="Raleway"/>
              </a:defRPr>
            </a:lvl8pPr>
            <a:lvl9pPr lvl="8">
              <a:spcBef>
                <a:spcPts val="0"/>
              </a:spcBef>
              <a:spcAft>
                <a:spcPts val="0"/>
              </a:spcAft>
              <a:buSzPts val="2800"/>
              <a:buFont typeface="Raleway"/>
              <a:buNone/>
              <a:defRPr sz="2800" b="1">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7"/>
          <p:cNvSpPr txBox="1">
            <a:spLocks noGrp="1"/>
          </p:cNvSpPr>
          <p:nvPr>
            <p:ph type="ctrTitle"/>
          </p:nvPr>
        </p:nvSpPr>
        <p:spPr>
          <a:xfrm>
            <a:off x="806875" y="1686600"/>
            <a:ext cx="7622700" cy="15006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800" dirty="0">
                <a:latin typeface="Times New Roman"/>
                <a:ea typeface="Times New Roman"/>
                <a:cs typeface="Times New Roman"/>
                <a:sym typeface="Times New Roman"/>
              </a:rPr>
              <a:t>SHAP-ENHANCED GENOMIC ANALYSIS FOR </a:t>
            </a:r>
            <a:br>
              <a:rPr lang="en" sz="1800" dirty="0">
                <a:latin typeface="Times New Roman"/>
                <a:ea typeface="Times New Roman"/>
                <a:cs typeface="Times New Roman"/>
                <a:sym typeface="Times New Roman"/>
              </a:rPr>
            </a:br>
            <a:r>
              <a:rPr lang="en" sz="1800" dirty="0">
                <a:latin typeface="Times New Roman"/>
                <a:ea typeface="Times New Roman"/>
                <a:cs typeface="Times New Roman"/>
                <a:sym typeface="Times New Roman"/>
              </a:rPr>
              <a:t>PRECISION MEDICINE</a:t>
            </a:r>
            <a:endParaRPr sz="1800" dirty="0">
              <a:latin typeface="Times New Roman"/>
              <a:ea typeface="Times New Roman"/>
              <a:cs typeface="Times New Roman"/>
              <a:sym typeface="Times New Roman"/>
            </a:endParaRPr>
          </a:p>
          <a:p>
            <a:pPr marL="0" lvl="0" indent="0" algn="ctr" rtl="0">
              <a:lnSpc>
                <a:spcPct val="115000"/>
              </a:lnSpc>
              <a:spcBef>
                <a:spcPts val="0"/>
              </a:spcBef>
              <a:spcAft>
                <a:spcPts val="0"/>
              </a:spcAft>
              <a:buNone/>
            </a:pPr>
            <a:r>
              <a:rPr lang="en" sz="1800" dirty="0">
                <a:latin typeface="Times New Roman"/>
                <a:ea typeface="Times New Roman"/>
                <a:cs typeface="Times New Roman"/>
                <a:sym typeface="Times New Roman"/>
              </a:rPr>
              <a:t>A CLINICAL CASE STUDY</a:t>
            </a:r>
            <a:endParaRPr sz="1800" dirty="0">
              <a:latin typeface="Times New Roman"/>
              <a:ea typeface="Times New Roman"/>
              <a:cs typeface="Times New Roman"/>
              <a:sym typeface="Times New Roman"/>
            </a:endParaRPr>
          </a:p>
        </p:txBody>
      </p:sp>
      <p:sp>
        <p:nvSpPr>
          <p:cNvPr id="136" name="Google Shape;136;p17"/>
          <p:cNvSpPr txBox="1">
            <a:spLocks noGrp="1"/>
          </p:cNvSpPr>
          <p:nvPr>
            <p:ph type="subTitle" idx="1"/>
          </p:nvPr>
        </p:nvSpPr>
        <p:spPr>
          <a:xfrm>
            <a:off x="806875" y="3471441"/>
            <a:ext cx="3296100" cy="1544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dirty="0">
                <a:solidFill>
                  <a:schemeClr val="dk2"/>
                </a:solidFill>
                <a:latin typeface="Times New Roman"/>
                <a:ea typeface="Times New Roman"/>
                <a:cs typeface="Times New Roman"/>
                <a:sym typeface="Times New Roman"/>
              </a:rPr>
              <a:t>Presented By:                                                                                                       </a:t>
            </a:r>
            <a:endParaRPr sz="1200" b="1" dirty="0">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dk2"/>
                </a:solidFill>
                <a:latin typeface="Times New Roman"/>
                <a:ea typeface="Times New Roman"/>
                <a:cs typeface="Times New Roman"/>
                <a:sym typeface="Times New Roman"/>
              </a:rPr>
              <a:t>B. Sathwika (22071A6769)</a:t>
            </a:r>
            <a:endParaRPr sz="1200" dirty="0">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dk2"/>
                </a:solidFill>
                <a:latin typeface="Times New Roman"/>
                <a:ea typeface="Times New Roman"/>
                <a:cs typeface="Times New Roman"/>
                <a:sym typeface="Times New Roman"/>
              </a:rPr>
              <a:t>K. Charana (22071A6788)</a:t>
            </a:r>
            <a:endParaRPr sz="1200" dirty="0">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dk2"/>
                </a:solidFill>
                <a:latin typeface="Times New Roman"/>
                <a:ea typeface="Times New Roman"/>
                <a:cs typeface="Times New Roman"/>
                <a:sym typeface="Times New Roman"/>
              </a:rPr>
              <a:t>P. Vaishnavi (22071A67A4)</a:t>
            </a:r>
            <a:endParaRPr sz="1200" dirty="0">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dk2"/>
                </a:solidFill>
                <a:latin typeface="Times New Roman"/>
                <a:ea typeface="Times New Roman"/>
                <a:cs typeface="Times New Roman"/>
                <a:sym typeface="Times New Roman"/>
              </a:rPr>
              <a:t>P. Mahima Gayatri (22071A67A7)</a:t>
            </a:r>
            <a:endParaRPr sz="1200" dirty="0">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endParaRPr sz="1200" b="1" dirty="0">
              <a:solidFill>
                <a:schemeClr val="dk2"/>
              </a:solidFill>
              <a:latin typeface="Times New Roman"/>
              <a:ea typeface="Times New Roman"/>
              <a:cs typeface="Times New Roman"/>
              <a:sym typeface="Times New Roman"/>
            </a:endParaRPr>
          </a:p>
        </p:txBody>
      </p:sp>
      <p:sp>
        <p:nvSpPr>
          <p:cNvPr id="137" name="Google Shape;137;p17"/>
          <p:cNvSpPr txBox="1"/>
          <p:nvPr/>
        </p:nvSpPr>
        <p:spPr>
          <a:xfrm>
            <a:off x="5363100" y="3187200"/>
            <a:ext cx="3780900" cy="1500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200" b="1" dirty="0">
                <a:solidFill>
                  <a:schemeClr val="dk2"/>
                </a:solidFill>
                <a:latin typeface="Times New Roman"/>
                <a:ea typeface="Times New Roman"/>
                <a:cs typeface="Times New Roman"/>
                <a:sym typeface="Times New Roman"/>
              </a:rPr>
              <a:t>Guided By:</a:t>
            </a:r>
          </a:p>
          <a:p>
            <a:pPr lvl="0" algn="ctr"/>
            <a:r>
              <a:rPr lang="en-US" sz="1200" dirty="0">
                <a:solidFill>
                  <a:schemeClr val="dk2"/>
                </a:solidFill>
                <a:latin typeface="Times New Roman"/>
                <a:ea typeface="Times New Roman"/>
                <a:cs typeface="Times New Roman"/>
                <a:sym typeface="Times New Roman"/>
              </a:rPr>
              <a:t>Dr. N. Sunanda</a:t>
            </a:r>
          </a:p>
          <a:p>
            <a:pPr lvl="0" algn="ctr"/>
            <a:r>
              <a:rPr lang="en-US" sz="1200" dirty="0">
                <a:solidFill>
                  <a:schemeClr val="dk2"/>
                </a:solidFill>
                <a:latin typeface="Times New Roman"/>
                <a:ea typeface="Times New Roman"/>
                <a:cs typeface="Times New Roman"/>
                <a:sym typeface="Times New Roman"/>
              </a:rPr>
              <a:t>Assistant Professor</a:t>
            </a:r>
          </a:p>
          <a:p>
            <a:pPr lvl="0" algn="ctr"/>
            <a:r>
              <a:rPr lang="en-US" sz="1200" dirty="0">
                <a:solidFill>
                  <a:schemeClr val="dk2"/>
                </a:solidFill>
                <a:latin typeface="Times New Roman"/>
                <a:ea typeface="Times New Roman"/>
                <a:cs typeface="Times New Roman"/>
                <a:sym typeface="Times New Roman"/>
              </a:rPr>
              <a:t>Department of CSE- (CYS, DS) AND AI&amp;DS </a:t>
            </a:r>
          </a:p>
          <a:p>
            <a:pPr marL="0" lvl="0" indent="0" algn="ctr" rtl="0">
              <a:lnSpc>
                <a:spcPct val="115000"/>
              </a:lnSpc>
              <a:spcBef>
                <a:spcPts val="0"/>
              </a:spcBef>
              <a:spcAft>
                <a:spcPts val="0"/>
              </a:spcAft>
              <a:buNone/>
            </a:pPr>
            <a:endParaRPr sz="1200" b="1" dirty="0">
              <a:solidFill>
                <a:schemeClr val="dk2"/>
              </a:solidFill>
              <a:latin typeface="Times New Roman"/>
              <a:ea typeface="Times New Roman"/>
              <a:cs typeface="Times New Roman"/>
              <a:sym typeface="Times New Roman"/>
            </a:endParaRPr>
          </a:p>
          <a:p>
            <a:pPr marL="0" lvl="0" indent="0" algn="ctr" rtl="0">
              <a:spcBef>
                <a:spcPts val="0"/>
              </a:spcBef>
              <a:spcAft>
                <a:spcPts val="0"/>
              </a:spcAft>
              <a:buNone/>
            </a:pPr>
            <a:r>
              <a:rPr lang="en" sz="1200" dirty="0">
                <a:solidFill>
                  <a:schemeClr val="dk2"/>
                </a:solidFill>
                <a:latin typeface="Times New Roman"/>
                <a:ea typeface="Times New Roman"/>
                <a:cs typeface="Times New Roman"/>
                <a:sym typeface="Times New Roman"/>
              </a:rPr>
              <a:t>Mr. D. Veerabhadra </a:t>
            </a:r>
            <a:endParaRPr sz="1200" dirty="0">
              <a:solidFill>
                <a:schemeClr val="dk2"/>
              </a:solidFill>
              <a:latin typeface="Times New Roman"/>
              <a:ea typeface="Times New Roman"/>
              <a:cs typeface="Times New Roman"/>
              <a:sym typeface="Times New Roman"/>
            </a:endParaRPr>
          </a:p>
          <a:p>
            <a:pPr marL="0" lvl="0" indent="0" algn="ctr" rtl="0">
              <a:spcBef>
                <a:spcPts val="0"/>
              </a:spcBef>
              <a:spcAft>
                <a:spcPts val="0"/>
              </a:spcAft>
              <a:buNone/>
            </a:pPr>
            <a:r>
              <a:rPr lang="en" sz="1200" dirty="0">
                <a:solidFill>
                  <a:schemeClr val="dk2"/>
                </a:solidFill>
                <a:latin typeface="Times New Roman"/>
                <a:ea typeface="Times New Roman"/>
                <a:cs typeface="Times New Roman"/>
                <a:sym typeface="Times New Roman"/>
              </a:rPr>
              <a:t>Assistant Professor</a:t>
            </a:r>
            <a:endParaRPr sz="1200" dirty="0">
              <a:solidFill>
                <a:schemeClr val="dk2"/>
              </a:solidFill>
              <a:latin typeface="Times New Roman"/>
              <a:ea typeface="Times New Roman"/>
              <a:cs typeface="Times New Roman"/>
              <a:sym typeface="Times New Roman"/>
            </a:endParaRPr>
          </a:p>
          <a:p>
            <a:pPr marL="0" lvl="0" indent="0" algn="ctr" rtl="0">
              <a:spcBef>
                <a:spcPts val="0"/>
              </a:spcBef>
              <a:spcAft>
                <a:spcPts val="0"/>
              </a:spcAft>
              <a:buNone/>
            </a:pPr>
            <a:r>
              <a:rPr lang="en" sz="1200" dirty="0">
                <a:solidFill>
                  <a:schemeClr val="dk2"/>
                </a:solidFill>
                <a:latin typeface="Times New Roman"/>
                <a:ea typeface="Times New Roman"/>
                <a:cs typeface="Times New Roman"/>
                <a:sym typeface="Times New Roman"/>
              </a:rPr>
              <a:t>Department of CSE- (CYS, DS) AND AI&amp;DS </a:t>
            </a:r>
            <a:endParaRPr sz="1200" dirty="0">
              <a:solidFill>
                <a:schemeClr val="dk2"/>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B54442E0-4240-D7BD-B337-CA749CDC8D76}"/>
            </a:ext>
          </a:extLst>
        </p:cNvPr>
        <p:cNvGrpSpPr/>
        <p:nvPr/>
      </p:nvGrpSpPr>
      <p:grpSpPr>
        <a:xfrm>
          <a:off x="0" y="0"/>
          <a:ext cx="0" cy="0"/>
          <a:chOff x="0" y="0"/>
          <a:chExt cx="0" cy="0"/>
        </a:xfrm>
      </p:grpSpPr>
      <p:sp>
        <p:nvSpPr>
          <p:cNvPr id="142" name="Google Shape;142;p18">
            <a:extLst>
              <a:ext uri="{FF2B5EF4-FFF2-40B4-BE49-F238E27FC236}">
                <a16:creationId xmlns:a16="http://schemas.microsoft.com/office/drawing/2014/main" id="{3AB8E9B0-7C58-28E7-5951-A1F73335EC6A}"/>
              </a:ext>
            </a:extLst>
          </p:cNvPr>
          <p:cNvSpPr txBox="1">
            <a:spLocks noGrp="1"/>
          </p:cNvSpPr>
          <p:nvPr>
            <p:ph type="ctrTitle"/>
          </p:nvPr>
        </p:nvSpPr>
        <p:spPr>
          <a:xfrm>
            <a:off x="729600" y="1173767"/>
            <a:ext cx="5840700" cy="54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latin typeface="Times New Roman"/>
                <a:ea typeface="Times New Roman"/>
                <a:cs typeface="Times New Roman"/>
                <a:sym typeface="Times New Roman"/>
              </a:rPr>
              <a:t>INTRODUCTION</a:t>
            </a:r>
            <a:endParaRPr sz="1600" dirty="0">
              <a:latin typeface="Times New Roman"/>
              <a:ea typeface="Times New Roman"/>
              <a:cs typeface="Times New Roman"/>
              <a:sym typeface="Times New Roman"/>
            </a:endParaRPr>
          </a:p>
        </p:txBody>
      </p:sp>
      <p:sp>
        <p:nvSpPr>
          <p:cNvPr id="143" name="Google Shape;143;p18">
            <a:extLst>
              <a:ext uri="{FF2B5EF4-FFF2-40B4-BE49-F238E27FC236}">
                <a16:creationId xmlns:a16="http://schemas.microsoft.com/office/drawing/2014/main" id="{03736109-9E80-EFE7-972A-BE798A73AD01}"/>
              </a:ext>
            </a:extLst>
          </p:cNvPr>
          <p:cNvSpPr txBox="1">
            <a:spLocks noGrp="1"/>
          </p:cNvSpPr>
          <p:nvPr>
            <p:ph type="subTitle" idx="1"/>
          </p:nvPr>
        </p:nvSpPr>
        <p:spPr>
          <a:xfrm>
            <a:off x="729600" y="1659960"/>
            <a:ext cx="4466868" cy="28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400" dirty="0">
                <a:solidFill>
                  <a:schemeClr val="dk2"/>
                </a:solidFill>
                <a:latin typeface="Times New Roman"/>
                <a:ea typeface="Times New Roman"/>
                <a:cs typeface="Times New Roman"/>
                <a:sym typeface="Times New Roman"/>
              </a:rPr>
              <a:t>Breast cancer is the most commonly diagnosed cancer among women worldwide and remains a major global health concern. According to recent statistics, more than 2.3 million new cases are reported annually, resulting in a significant number of deaths each year. The disease is highly complex due to its heterogeneous nature, involving diverse genetic mutations, molecular subtypes, and varying clinical outcomes. Therefore, accurate survival prediction is essential for effective treatment planning, risk assessment, and personalized healthcare. Traditional survival analysis methods such as the Cox Proportional Hazards model and Kaplan–Meier estimators have been widely used in clinical research. </a:t>
            </a:r>
            <a:endParaRPr sz="1400" dirty="0">
              <a:solidFill>
                <a:schemeClr val="dk2"/>
              </a:solidFill>
              <a:latin typeface="Times New Roman"/>
              <a:ea typeface="Times New Roman"/>
              <a:cs typeface="Times New Roman"/>
              <a:sym typeface="Times New Roman"/>
            </a:endParaRPr>
          </a:p>
        </p:txBody>
      </p:sp>
      <p:pic>
        <p:nvPicPr>
          <p:cNvPr id="1026" name="Picture 2" descr="Breast Cancer Awareness - Dubai ...">
            <a:extLst>
              <a:ext uri="{FF2B5EF4-FFF2-40B4-BE49-F238E27FC236}">
                <a16:creationId xmlns:a16="http://schemas.microsoft.com/office/drawing/2014/main" id="{055AA250-45D9-4111-1D86-372310DCC5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9629" y="1826608"/>
            <a:ext cx="2498917" cy="249891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943161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8"/>
          <p:cNvSpPr txBox="1">
            <a:spLocks noGrp="1"/>
          </p:cNvSpPr>
          <p:nvPr>
            <p:ph type="ctrTitle"/>
          </p:nvPr>
        </p:nvSpPr>
        <p:spPr>
          <a:xfrm>
            <a:off x="729600" y="1173767"/>
            <a:ext cx="5840700" cy="54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latin typeface="Times New Roman"/>
                <a:ea typeface="Times New Roman"/>
                <a:cs typeface="Times New Roman"/>
                <a:sym typeface="Times New Roman"/>
              </a:rPr>
              <a:t>INTRODUCTION</a:t>
            </a:r>
            <a:endParaRPr sz="1600" dirty="0">
              <a:latin typeface="Times New Roman"/>
              <a:ea typeface="Times New Roman"/>
              <a:cs typeface="Times New Roman"/>
              <a:sym typeface="Times New Roman"/>
            </a:endParaRPr>
          </a:p>
        </p:txBody>
      </p:sp>
      <p:sp>
        <p:nvSpPr>
          <p:cNvPr id="143" name="Google Shape;143;p18"/>
          <p:cNvSpPr txBox="1">
            <a:spLocks noGrp="1"/>
          </p:cNvSpPr>
          <p:nvPr>
            <p:ph type="subTitle" idx="1"/>
          </p:nvPr>
        </p:nvSpPr>
        <p:spPr>
          <a:xfrm>
            <a:off x="729600" y="1615355"/>
            <a:ext cx="3998517" cy="28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400" dirty="0">
                <a:solidFill>
                  <a:schemeClr val="dk2"/>
                </a:solidFill>
                <a:latin typeface="Times New Roman"/>
                <a:ea typeface="Times New Roman"/>
                <a:cs typeface="Times New Roman"/>
                <a:sym typeface="Times New Roman"/>
              </a:rPr>
              <a:t>However, these methods rely on strong statistical assumptions and often struggle to capture complex nonlinear relationships present in large-scale clinical and genomic datasets. With the availability of large biomedical datasets such as METABRIC, machine learning approaches have emerged as powerful tools for improving prediction accuracy. In particular, Random Forest models can effectively handle complex data patterns, while explainable AI methods like SHAP help provide transparent and interpretable predictions for clinical decision support.</a:t>
            </a:r>
            <a:endParaRPr sz="1400" dirty="0">
              <a:solidFill>
                <a:schemeClr val="dk2"/>
              </a:solidFill>
              <a:latin typeface="Times New Roman"/>
              <a:ea typeface="Times New Roman"/>
              <a:cs typeface="Times New Roman"/>
              <a:sym typeface="Times New Roman"/>
            </a:endParaRPr>
          </a:p>
        </p:txBody>
      </p:sp>
      <p:pic>
        <p:nvPicPr>
          <p:cNvPr id="2050" name="Picture 2" descr="Breast Cancer detection using Machine Learning | by Akhilesh Kumar | Medium">
            <a:extLst>
              <a:ext uri="{FF2B5EF4-FFF2-40B4-BE49-F238E27FC236}">
                <a16:creationId xmlns:a16="http://schemas.microsoft.com/office/drawing/2014/main" id="{8F9AC630-DFC2-0DC5-9EFD-A1B9FBEA7836}"/>
              </a:ext>
            </a:extLst>
          </p:cNvPr>
          <p:cNvPicPr>
            <a:picLocks noChangeAspect="1" noChangeArrowheads="1"/>
          </p:cNvPicPr>
          <p:nvPr/>
        </p:nvPicPr>
        <p:blipFill rotWithShape="1">
          <a:blip r:embed="rId3">
            <a:alphaModFix amt="70000"/>
            <a:extLst>
              <a:ext uri="{28A0092B-C50C-407E-A947-70E740481C1C}">
                <a14:useLocalDpi xmlns:a14="http://schemas.microsoft.com/office/drawing/2010/main" val="0"/>
              </a:ext>
            </a:extLst>
          </a:blip>
          <a:srcRect l="28064" r="1363"/>
          <a:stretch>
            <a:fillRect/>
          </a:stretch>
        </p:blipFill>
        <p:spPr bwMode="auto">
          <a:xfrm>
            <a:off x="4938993" y="1714967"/>
            <a:ext cx="4063757" cy="2424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89CF8E68-470F-D608-1B9F-D3FAA70611A8}"/>
              </a:ext>
            </a:extLst>
          </p:cNvPr>
          <p:cNvSpPr/>
          <p:nvPr/>
        </p:nvSpPr>
        <p:spPr>
          <a:xfrm>
            <a:off x="4938993" y="2475571"/>
            <a:ext cx="755563" cy="379141"/>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22EA0-C936-A5FE-F70B-5A24314E215C}"/>
              </a:ext>
            </a:extLst>
          </p:cNvPr>
          <p:cNvSpPr>
            <a:spLocks noGrp="1"/>
          </p:cNvSpPr>
          <p:nvPr>
            <p:ph type="title"/>
          </p:nvPr>
        </p:nvSpPr>
        <p:spPr/>
        <p:txBody>
          <a:bodyPr/>
          <a:lstStyle/>
          <a:p>
            <a:r>
              <a:rPr lang="en-US" sz="1600" dirty="0">
                <a:latin typeface="Times New Roman" panose="02020603050405020304" pitchFamily="18" charset="0"/>
                <a:cs typeface="Times New Roman" panose="02020603050405020304" pitchFamily="18" charset="0"/>
              </a:rPr>
              <a:t>RESEARCH GAPS</a:t>
            </a:r>
            <a:endParaRPr lang="en-IN" sz="1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91522E4-8084-08F0-6597-E5C4ADE5436B}"/>
              </a:ext>
            </a:extLst>
          </p:cNvPr>
          <p:cNvSpPr>
            <a:spLocks noGrp="1"/>
          </p:cNvSpPr>
          <p:nvPr>
            <p:ph type="body" idx="1"/>
          </p:nvPr>
        </p:nvSpPr>
        <p:spPr>
          <a:xfrm>
            <a:off x="729450" y="1853850"/>
            <a:ext cx="7871857" cy="3104726"/>
          </a:xfrm>
        </p:spPr>
        <p:txBody>
          <a:bodyPr/>
          <a:lstStyle/>
          <a:p>
            <a:pPr algn="just"/>
            <a:r>
              <a:rPr lang="en-US" sz="1400" dirty="0">
                <a:solidFill>
                  <a:schemeClr val="bg2"/>
                </a:solidFill>
                <a:latin typeface="Times New Roman" panose="02020603050405020304" pitchFamily="18" charset="0"/>
                <a:cs typeface="Times New Roman" panose="02020603050405020304" pitchFamily="18" charset="0"/>
              </a:rPr>
              <a:t>After reviewing previous studies, several important gaps were found. Most works used small or less varied datasets, which limits how well models work for different patients. Many models were not tested in real hospital environments, making their real-world reliability unclear. There is also limited large-scale testing using real genomic (gene) data.</a:t>
            </a:r>
          </a:p>
          <a:p>
            <a:pPr algn="just"/>
            <a:r>
              <a:rPr lang="en-US" sz="1400" dirty="0">
                <a:solidFill>
                  <a:schemeClr val="bg2"/>
                </a:solidFill>
                <a:latin typeface="Times New Roman" panose="02020603050405020304" pitchFamily="18" charset="0"/>
                <a:cs typeface="Times New Roman" panose="02020603050405020304" pitchFamily="18" charset="0"/>
              </a:rPr>
              <a:t>Only a few studies examined how stable SHAP explanations are when data is changed. Many focused more on clinical data than deep gene-level analysis. Most systems work on only one cancer type, mainly breast cancer, and lack support for multiple cancer types. </a:t>
            </a:r>
          </a:p>
          <a:p>
            <a:pPr algn="just"/>
            <a:r>
              <a:rPr lang="en-US" sz="1400" dirty="0">
                <a:solidFill>
                  <a:schemeClr val="bg2"/>
                </a:solidFill>
                <a:latin typeface="Times New Roman" panose="02020603050405020304" pitchFamily="18" charset="0"/>
                <a:cs typeface="Times New Roman" panose="02020603050405020304" pitchFamily="18" charset="0"/>
              </a:rPr>
              <a:t>Current systems rarely combine disease prediction, survival estimation, and explainable AI in one complete framework, and few provide easy-to-understand reports for both doctors and patients.</a:t>
            </a:r>
          </a:p>
          <a:p>
            <a:pPr algn="just"/>
            <a:r>
              <a:rPr lang="en-US" sz="1400" dirty="0">
                <a:solidFill>
                  <a:schemeClr val="bg2"/>
                </a:solidFill>
                <a:latin typeface="Times New Roman" panose="02020603050405020304" pitchFamily="18" charset="0"/>
                <a:cs typeface="Times New Roman" panose="02020603050405020304" pitchFamily="18" charset="0"/>
              </a:rPr>
              <a:t>These gaps highlight the need for a reliable, scalable system that uses real-world data and provides accurate, trustworthy explanations.</a:t>
            </a:r>
            <a:endParaRPr lang="en-IN" sz="14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2959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1BAB0-6671-86E3-D0B0-5610EA225649}"/>
              </a:ext>
            </a:extLst>
          </p:cNvPr>
          <p:cNvSpPr>
            <a:spLocks noGrp="1"/>
          </p:cNvSpPr>
          <p:nvPr>
            <p:ph type="ctrTitle"/>
          </p:nvPr>
        </p:nvSpPr>
        <p:spPr>
          <a:xfrm>
            <a:off x="290834" y="1322450"/>
            <a:ext cx="7947101" cy="513784"/>
          </a:xfrm>
        </p:spPr>
        <p:txBody>
          <a:bodyPr/>
          <a:lstStyle/>
          <a:p>
            <a:r>
              <a:rPr lang="en-US" sz="1600" dirty="0">
                <a:latin typeface="Times New Roman" panose="02020603050405020304" pitchFamily="18" charset="0"/>
                <a:cs typeface="Times New Roman" panose="02020603050405020304" pitchFamily="18" charset="0"/>
              </a:rPr>
              <a:t>MATERIALS AND METHODS</a:t>
            </a:r>
            <a:endParaRPr lang="en-IN" sz="1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C9C09AC-D307-35FA-2D04-9DDC8664A8D0}"/>
              </a:ext>
            </a:extLst>
          </p:cNvPr>
          <p:cNvSpPr>
            <a:spLocks noGrp="1"/>
          </p:cNvSpPr>
          <p:nvPr>
            <p:ph type="subTitle" idx="1"/>
          </p:nvPr>
        </p:nvSpPr>
        <p:spPr>
          <a:xfrm>
            <a:off x="290834" y="1836234"/>
            <a:ext cx="5842337" cy="3174381"/>
          </a:xfrm>
        </p:spPr>
        <p:txBody>
          <a:bodyPr/>
          <a:lstStyle/>
          <a:p>
            <a:pPr algn="just"/>
            <a:r>
              <a:rPr lang="en-IN" sz="1400" b="1" dirty="0">
                <a:solidFill>
                  <a:schemeClr val="bg2"/>
                </a:solidFill>
                <a:latin typeface="Times New Roman" panose="02020603050405020304" pitchFamily="18" charset="0"/>
                <a:cs typeface="Times New Roman" panose="02020603050405020304" pitchFamily="18" charset="0"/>
              </a:rPr>
              <a:t>Materials:</a:t>
            </a:r>
          </a:p>
          <a:p>
            <a:pPr algn="just">
              <a:buFont typeface="Arial" panose="020B0604020202020204" pitchFamily="34" charset="0"/>
              <a:buChar char="•"/>
            </a:pPr>
            <a:r>
              <a:rPr lang="en-IN" sz="1400" dirty="0">
                <a:solidFill>
                  <a:schemeClr val="bg2"/>
                </a:solidFill>
                <a:latin typeface="Times New Roman" panose="02020603050405020304" pitchFamily="18" charset="0"/>
                <a:cs typeface="Times New Roman" panose="02020603050405020304" pitchFamily="18" charset="0"/>
              </a:rPr>
              <a:t>Breast cancer genomic dataset (public sources)</a:t>
            </a:r>
          </a:p>
          <a:p>
            <a:pPr algn="just">
              <a:buFont typeface="Arial" panose="020B0604020202020204" pitchFamily="34" charset="0"/>
              <a:buChar char="•"/>
            </a:pPr>
            <a:r>
              <a:rPr lang="en-IN" sz="1400" dirty="0">
                <a:solidFill>
                  <a:schemeClr val="bg2"/>
                </a:solidFill>
                <a:latin typeface="Times New Roman" panose="02020603050405020304" pitchFamily="18" charset="0"/>
                <a:cs typeface="Times New Roman" panose="02020603050405020304" pitchFamily="18" charset="0"/>
              </a:rPr>
              <a:t>Python, </a:t>
            </a:r>
            <a:r>
              <a:rPr lang="en-IN" sz="1400" dirty="0" err="1">
                <a:solidFill>
                  <a:schemeClr val="bg2"/>
                </a:solidFill>
                <a:latin typeface="Times New Roman" panose="02020603050405020304" pitchFamily="18" charset="0"/>
                <a:cs typeface="Times New Roman" panose="02020603050405020304" pitchFamily="18" charset="0"/>
              </a:rPr>
              <a:t>Jupyter</a:t>
            </a:r>
            <a:r>
              <a:rPr lang="en-IN" sz="1400" dirty="0">
                <a:solidFill>
                  <a:schemeClr val="bg2"/>
                </a:solidFill>
                <a:latin typeface="Times New Roman" panose="02020603050405020304" pitchFamily="18" charset="0"/>
                <a:cs typeface="Times New Roman" panose="02020603050405020304" pitchFamily="18" charset="0"/>
              </a:rPr>
              <a:t>/Colab, libraries: NumPy, Pandas, </a:t>
            </a:r>
          </a:p>
          <a:p>
            <a:pPr marL="146050" indent="0" algn="just"/>
            <a:r>
              <a:rPr lang="en-IN" sz="1400" dirty="0">
                <a:solidFill>
                  <a:schemeClr val="bg2"/>
                </a:solidFill>
                <a:latin typeface="Times New Roman" panose="02020603050405020304" pitchFamily="18" charset="0"/>
                <a:cs typeface="Times New Roman" panose="02020603050405020304" pitchFamily="18" charset="0"/>
              </a:rPr>
              <a:t>       </a:t>
            </a:r>
            <a:r>
              <a:rPr lang="en-IN" sz="1400" dirty="0" err="1">
                <a:solidFill>
                  <a:schemeClr val="bg2"/>
                </a:solidFill>
                <a:latin typeface="Times New Roman" panose="02020603050405020304" pitchFamily="18" charset="0"/>
                <a:cs typeface="Times New Roman" panose="02020603050405020304" pitchFamily="18" charset="0"/>
              </a:rPr>
              <a:t>Streamlit</a:t>
            </a:r>
            <a:r>
              <a:rPr lang="en-IN" sz="1400" dirty="0">
                <a:solidFill>
                  <a:schemeClr val="bg2"/>
                </a:solidFill>
                <a:latin typeface="Times New Roman" panose="02020603050405020304" pitchFamily="18" charset="0"/>
                <a:cs typeface="Times New Roman" panose="02020603050405020304" pitchFamily="18" charset="0"/>
              </a:rPr>
              <a:t>, Scikit-learn, SHAP, Matplotlib</a:t>
            </a:r>
          </a:p>
          <a:p>
            <a:pPr algn="just">
              <a:buFont typeface="Arial" panose="020B0604020202020204" pitchFamily="34" charset="0"/>
              <a:buChar char="•"/>
            </a:pPr>
            <a:r>
              <a:rPr lang="en-IN" sz="1400" dirty="0">
                <a:solidFill>
                  <a:schemeClr val="bg2"/>
                </a:solidFill>
                <a:latin typeface="Times New Roman" panose="02020603050405020304" pitchFamily="18" charset="0"/>
                <a:cs typeface="Times New Roman" panose="02020603050405020304" pitchFamily="18" charset="0"/>
              </a:rPr>
              <a:t>Laptop/Desktop with 8GB+ RAM</a:t>
            </a:r>
          </a:p>
          <a:p>
            <a:pPr marL="146050" indent="0" algn="just"/>
            <a:endParaRPr lang="en-IN" sz="1400" dirty="0">
              <a:solidFill>
                <a:schemeClr val="bg2"/>
              </a:solidFill>
              <a:latin typeface="Times New Roman" panose="02020603050405020304" pitchFamily="18" charset="0"/>
              <a:cs typeface="Times New Roman" panose="02020603050405020304" pitchFamily="18" charset="0"/>
            </a:endParaRPr>
          </a:p>
          <a:p>
            <a:pPr algn="just"/>
            <a:r>
              <a:rPr lang="en-IN" sz="1400" b="1" dirty="0">
                <a:solidFill>
                  <a:schemeClr val="bg2"/>
                </a:solidFill>
                <a:latin typeface="Times New Roman" panose="02020603050405020304" pitchFamily="18" charset="0"/>
                <a:cs typeface="Times New Roman" panose="02020603050405020304" pitchFamily="18" charset="0"/>
              </a:rPr>
              <a:t>Methods / Steps:</a:t>
            </a:r>
            <a:endParaRPr lang="en-IN" sz="1400" dirty="0">
              <a:solidFill>
                <a:schemeClr val="bg2"/>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1400" b="1" dirty="0">
                <a:solidFill>
                  <a:schemeClr val="bg2"/>
                </a:solidFill>
                <a:latin typeface="Times New Roman" panose="02020603050405020304" pitchFamily="18" charset="0"/>
                <a:cs typeface="Times New Roman" panose="02020603050405020304" pitchFamily="18" charset="0"/>
              </a:rPr>
              <a:t>Data Collection &amp; Preprocessing</a:t>
            </a:r>
            <a:r>
              <a:rPr lang="en-IN" sz="1400" dirty="0">
                <a:solidFill>
                  <a:schemeClr val="bg2"/>
                </a:solidFill>
                <a:latin typeface="Times New Roman" panose="02020603050405020304" pitchFamily="18" charset="0"/>
                <a:cs typeface="Times New Roman" panose="02020603050405020304" pitchFamily="18" charset="0"/>
              </a:rPr>
              <a:t> – Clean, normalize, split dataset</a:t>
            </a:r>
          </a:p>
          <a:p>
            <a:pPr algn="just">
              <a:buFont typeface="Arial" panose="020B0604020202020204" pitchFamily="34" charset="0"/>
              <a:buChar char="•"/>
            </a:pPr>
            <a:r>
              <a:rPr lang="en-IN" sz="1400" b="1" dirty="0">
                <a:solidFill>
                  <a:schemeClr val="bg2"/>
                </a:solidFill>
                <a:latin typeface="Times New Roman" panose="02020603050405020304" pitchFamily="18" charset="0"/>
                <a:cs typeface="Times New Roman" panose="02020603050405020304" pitchFamily="18" charset="0"/>
              </a:rPr>
              <a:t>Feature Selection</a:t>
            </a:r>
            <a:r>
              <a:rPr lang="en-IN" sz="1400" dirty="0">
                <a:solidFill>
                  <a:schemeClr val="bg2"/>
                </a:solidFill>
                <a:latin typeface="Times New Roman" panose="02020603050405020304" pitchFamily="18" charset="0"/>
                <a:cs typeface="Times New Roman" panose="02020603050405020304" pitchFamily="18" charset="0"/>
              </a:rPr>
              <a:t> – Identify important genes</a:t>
            </a:r>
          </a:p>
          <a:p>
            <a:pPr algn="just">
              <a:buFont typeface="Arial" panose="020B0604020202020204" pitchFamily="34" charset="0"/>
              <a:buChar char="•"/>
            </a:pPr>
            <a:r>
              <a:rPr lang="en-IN" sz="1400" b="1" dirty="0">
                <a:solidFill>
                  <a:schemeClr val="bg2"/>
                </a:solidFill>
                <a:latin typeface="Times New Roman" panose="02020603050405020304" pitchFamily="18" charset="0"/>
                <a:cs typeface="Times New Roman" panose="02020603050405020304" pitchFamily="18" charset="0"/>
              </a:rPr>
              <a:t>Model Building</a:t>
            </a:r>
            <a:r>
              <a:rPr lang="en-IN" sz="1400" dirty="0">
                <a:solidFill>
                  <a:schemeClr val="bg2"/>
                </a:solidFill>
                <a:latin typeface="Times New Roman" panose="02020603050405020304" pitchFamily="18" charset="0"/>
                <a:cs typeface="Times New Roman" panose="02020603050405020304" pitchFamily="18" charset="0"/>
              </a:rPr>
              <a:t> – Random Forest for cancer prediction</a:t>
            </a:r>
          </a:p>
          <a:p>
            <a:pPr algn="just">
              <a:buFont typeface="Arial" panose="020B0604020202020204" pitchFamily="34" charset="0"/>
              <a:buChar char="•"/>
            </a:pPr>
            <a:r>
              <a:rPr lang="en-IN" sz="1400" b="1" dirty="0">
                <a:solidFill>
                  <a:schemeClr val="bg2"/>
                </a:solidFill>
                <a:latin typeface="Times New Roman" panose="02020603050405020304" pitchFamily="18" charset="0"/>
                <a:cs typeface="Times New Roman" panose="02020603050405020304" pitchFamily="18" charset="0"/>
              </a:rPr>
              <a:t>Explainability</a:t>
            </a:r>
            <a:r>
              <a:rPr lang="en-IN" sz="1400" dirty="0">
                <a:solidFill>
                  <a:schemeClr val="bg2"/>
                </a:solidFill>
                <a:latin typeface="Times New Roman" panose="02020603050405020304" pitchFamily="18" charset="0"/>
                <a:cs typeface="Times New Roman" panose="02020603050405020304" pitchFamily="18" charset="0"/>
              </a:rPr>
              <a:t> – SHAP to show gene influence</a:t>
            </a:r>
          </a:p>
          <a:p>
            <a:pPr algn="just">
              <a:buFont typeface="Arial" panose="020B0604020202020204" pitchFamily="34" charset="0"/>
              <a:buChar char="•"/>
            </a:pPr>
            <a:r>
              <a:rPr lang="en-IN" sz="1400" b="1" dirty="0">
                <a:solidFill>
                  <a:schemeClr val="bg2"/>
                </a:solidFill>
                <a:latin typeface="Times New Roman" panose="02020603050405020304" pitchFamily="18" charset="0"/>
                <a:cs typeface="Times New Roman" panose="02020603050405020304" pitchFamily="18" charset="0"/>
              </a:rPr>
              <a:t>Survival Estimation</a:t>
            </a:r>
            <a:r>
              <a:rPr lang="en-IN" sz="1400" dirty="0">
                <a:solidFill>
                  <a:schemeClr val="bg2"/>
                </a:solidFill>
                <a:latin typeface="Times New Roman" panose="02020603050405020304" pitchFamily="18" charset="0"/>
                <a:cs typeface="Times New Roman" panose="02020603050405020304" pitchFamily="18" charset="0"/>
              </a:rPr>
              <a:t> – Predict patient survival probability</a:t>
            </a:r>
          </a:p>
          <a:p>
            <a:pPr algn="just">
              <a:buFont typeface="Arial" panose="020B0604020202020204" pitchFamily="34" charset="0"/>
              <a:buChar char="•"/>
            </a:pPr>
            <a:r>
              <a:rPr lang="en-IN" sz="1400" b="1" dirty="0">
                <a:solidFill>
                  <a:schemeClr val="bg2"/>
                </a:solidFill>
                <a:latin typeface="Times New Roman" panose="02020603050405020304" pitchFamily="18" charset="0"/>
                <a:cs typeface="Times New Roman" panose="02020603050405020304" pitchFamily="18" charset="0"/>
              </a:rPr>
              <a:t>Dual Report Generation</a:t>
            </a:r>
            <a:r>
              <a:rPr lang="en-IN" sz="1400" dirty="0">
                <a:solidFill>
                  <a:schemeClr val="bg2"/>
                </a:solidFill>
                <a:latin typeface="Times New Roman" panose="02020603050405020304" pitchFamily="18" charset="0"/>
                <a:cs typeface="Times New Roman" panose="02020603050405020304" pitchFamily="18" charset="0"/>
              </a:rPr>
              <a:t> – Doctor (detailed) &amp; Patient (simple) reports</a:t>
            </a:r>
          </a:p>
          <a:p>
            <a:pPr algn="just">
              <a:buFont typeface="Arial" panose="020B0604020202020204" pitchFamily="34" charset="0"/>
              <a:buChar char="•"/>
            </a:pPr>
            <a:r>
              <a:rPr lang="en-IN" sz="1400" b="1" dirty="0">
                <a:solidFill>
                  <a:schemeClr val="bg2"/>
                </a:solidFill>
                <a:latin typeface="Times New Roman" panose="02020603050405020304" pitchFamily="18" charset="0"/>
                <a:cs typeface="Times New Roman" panose="02020603050405020304" pitchFamily="18" charset="0"/>
              </a:rPr>
              <a:t>Evaluation</a:t>
            </a:r>
            <a:r>
              <a:rPr lang="en-IN" sz="1400" dirty="0">
                <a:solidFill>
                  <a:schemeClr val="bg2"/>
                </a:solidFill>
                <a:latin typeface="Times New Roman" panose="02020603050405020304" pitchFamily="18" charset="0"/>
                <a:cs typeface="Times New Roman" panose="02020603050405020304" pitchFamily="18" charset="0"/>
              </a:rPr>
              <a:t> – Accuracy, precision, recall, F1-score</a:t>
            </a:r>
          </a:p>
          <a:p>
            <a:pPr marL="146050" indent="0" algn="just"/>
            <a:endParaRPr lang="en-IN" sz="1400" dirty="0">
              <a:solidFill>
                <a:schemeClr val="bg2"/>
              </a:solidFill>
              <a:latin typeface="Times New Roman" panose="02020603050405020304" pitchFamily="18" charset="0"/>
              <a:cs typeface="Times New Roman" panose="02020603050405020304" pitchFamily="18" charset="0"/>
            </a:endParaRPr>
          </a:p>
          <a:p>
            <a:pPr marL="146050" indent="0" algn="just"/>
            <a:endParaRPr lang="en-IN" sz="1400" dirty="0">
              <a:solidFill>
                <a:schemeClr val="bg2"/>
              </a:solidFill>
              <a:latin typeface="Times New Roman" panose="02020603050405020304" pitchFamily="18" charset="0"/>
              <a:cs typeface="Times New Roman" panose="02020603050405020304" pitchFamily="18" charset="0"/>
            </a:endParaRPr>
          </a:p>
        </p:txBody>
      </p:sp>
      <p:pic>
        <p:nvPicPr>
          <p:cNvPr id="3074" name="Picture 2" descr="Interpreting Black Box Models with SHAP ...">
            <a:extLst>
              <a:ext uri="{FF2B5EF4-FFF2-40B4-BE49-F238E27FC236}">
                <a16:creationId xmlns:a16="http://schemas.microsoft.com/office/drawing/2014/main" id="{38FC665E-A076-A236-B00E-0F75D68793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498"/>
          <a:stretch>
            <a:fillRect/>
          </a:stretch>
        </p:blipFill>
        <p:spPr bwMode="auto">
          <a:xfrm>
            <a:off x="7365911" y="1579343"/>
            <a:ext cx="1308460" cy="45761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ython (programming language) - Wikipedia">
            <a:extLst>
              <a:ext uri="{FF2B5EF4-FFF2-40B4-BE49-F238E27FC236}">
                <a16:creationId xmlns:a16="http://schemas.microsoft.com/office/drawing/2014/main" id="{1A4F9D09-5E5C-8768-E459-A701A8D628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5085" y="2122559"/>
            <a:ext cx="722157" cy="72215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Matplotlib tutorial | Interactive Chaos">
            <a:extLst>
              <a:ext uri="{FF2B5EF4-FFF2-40B4-BE49-F238E27FC236}">
                <a16:creationId xmlns:a16="http://schemas.microsoft.com/office/drawing/2014/main" id="{CB4A9264-6603-11F6-1E41-5A2913D48D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7412" y="2406031"/>
            <a:ext cx="1275654" cy="637827"/>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cBioPortal Logo">
            <a:extLst>
              <a:ext uri="{FF2B5EF4-FFF2-40B4-BE49-F238E27FC236}">
                <a16:creationId xmlns:a16="http://schemas.microsoft.com/office/drawing/2014/main" id="{C6226ECF-195A-8398-17FE-48E590AFDF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5085" y="3131042"/>
            <a:ext cx="1556650" cy="352449"/>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Evaluation Metrics in Machine Learning ...">
            <a:extLst>
              <a:ext uri="{FF2B5EF4-FFF2-40B4-BE49-F238E27FC236}">
                <a16:creationId xmlns:a16="http://schemas.microsoft.com/office/drawing/2014/main" id="{9170D289-E4A3-E6EB-20C0-BB8AEDC917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58287" y="3611556"/>
            <a:ext cx="1463424" cy="727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3858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811E8-39C6-D2E9-C163-CB2057E47D71}"/>
              </a:ext>
            </a:extLst>
          </p:cNvPr>
          <p:cNvSpPr>
            <a:spLocks noGrp="1"/>
          </p:cNvSpPr>
          <p:nvPr>
            <p:ph type="title"/>
          </p:nvPr>
        </p:nvSpPr>
        <p:spPr/>
        <p:txBody>
          <a:bodyPr/>
          <a:lstStyle/>
          <a:p>
            <a:r>
              <a:rPr lang="en-US" sz="1600" dirty="0">
                <a:latin typeface="Times New Roman" panose="02020603050405020304" pitchFamily="18" charset="0"/>
                <a:cs typeface="Times New Roman" panose="02020603050405020304" pitchFamily="18" charset="0"/>
              </a:rPr>
              <a:t>SIGNIFICANCE OF THE PROPOSED SYSTEM</a:t>
            </a:r>
            <a:endParaRPr lang="en-IN" sz="1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1C93037-1979-9838-5BB6-7C49BA5EAEA5}"/>
              </a:ext>
            </a:extLst>
          </p:cNvPr>
          <p:cNvSpPr>
            <a:spLocks noGrp="1"/>
          </p:cNvSpPr>
          <p:nvPr>
            <p:ph type="body" idx="1"/>
          </p:nvPr>
        </p:nvSpPr>
        <p:spPr>
          <a:xfrm>
            <a:off x="235197" y="1738289"/>
            <a:ext cx="4656472" cy="2983778"/>
          </a:xfrm>
        </p:spPr>
        <p:txBody>
          <a:bodyPr tIns="90000"/>
          <a:lstStyle/>
          <a:p>
            <a:pPr marL="146050" indent="0">
              <a:buNone/>
            </a:pPr>
            <a:r>
              <a:rPr lang="en-US" sz="1400" dirty="0">
                <a:latin typeface="Times New Roman" panose="02020603050405020304" pitchFamily="18" charset="0"/>
                <a:cs typeface="Times New Roman" panose="02020603050405020304" pitchFamily="18" charset="0"/>
              </a:rPr>
              <a:t>The proposed system provides:</a:t>
            </a:r>
          </a:p>
          <a:p>
            <a:pPr>
              <a:lnSpc>
                <a:spcPct val="100000"/>
              </a:lnSpc>
            </a:pPr>
            <a:r>
              <a:rPr lang="en-US" sz="1400" b="1" dirty="0">
                <a:latin typeface="Times New Roman" panose="02020603050405020304" pitchFamily="18" charset="0"/>
                <a:cs typeface="Times New Roman" panose="02020603050405020304" pitchFamily="18" charset="0"/>
              </a:rPr>
              <a:t>Interpretable AI Framework</a:t>
            </a:r>
          </a:p>
          <a:p>
            <a:pPr lvl="1">
              <a:lnSpc>
                <a:spcPct val="100000"/>
              </a:lnSpc>
              <a:spcBef>
                <a:spcPts val="600"/>
              </a:spcBef>
            </a:pPr>
            <a:r>
              <a:rPr lang="en-US" sz="1200" dirty="0">
                <a:latin typeface="Times New Roman" panose="02020603050405020304" pitchFamily="18" charset="0"/>
                <a:cs typeface="Times New Roman" panose="02020603050405020304" pitchFamily="18" charset="0"/>
              </a:rPr>
              <a:t>Uses </a:t>
            </a:r>
            <a:r>
              <a:rPr lang="en-US" sz="1200" b="1" dirty="0">
                <a:latin typeface="Times New Roman" panose="02020603050405020304" pitchFamily="18" charset="0"/>
                <a:cs typeface="Times New Roman" panose="02020603050405020304" pitchFamily="18" charset="0"/>
              </a:rPr>
              <a:t>SHAP</a:t>
            </a:r>
            <a:r>
              <a:rPr lang="en-US" sz="1200" dirty="0">
                <a:latin typeface="Times New Roman" panose="02020603050405020304" pitchFamily="18" charset="0"/>
                <a:cs typeface="Times New Roman" panose="02020603050405020304" pitchFamily="18" charset="0"/>
              </a:rPr>
              <a:t> for transparent predictions.</a:t>
            </a:r>
          </a:p>
          <a:p>
            <a:pPr>
              <a:lnSpc>
                <a:spcPct val="100000"/>
              </a:lnSpc>
            </a:pPr>
            <a:r>
              <a:rPr lang="en-US" sz="1400" b="1" dirty="0">
                <a:latin typeface="Times New Roman" panose="02020603050405020304" pitchFamily="18" charset="0"/>
                <a:cs typeface="Times New Roman" panose="02020603050405020304" pitchFamily="18" charset="0"/>
              </a:rPr>
              <a:t>Dual Prediction Capability</a:t>
            </a:r>
          </a:p>
          <a:p>
            <a:pPr lvl="1">
              <a:lnSpc>
                <a:spcPct val="100000"/>
              </a:lnSpc>
              <a:spcBef>
                <a:spcPts val="600"/>
              </a:spcBef>
            </a:pPr>
            <a:r>
              <a:rPr lang="en-US" sz="1200" dirty="0">
                <a:latin typeface="Times New Roman" panose="02020603050405020304" pitchFamily="18" charset="0"/>
                <a:cs typeface="Times New Roman" panose="02020603050405020304" pitchFamily="18" charset="0"/>
              </a:rPr>
              <a:t>Predicts </a:t>
            </a:r>
            <a:r>
              <a:rPr lang="en-US" sz="1200" b="1" dirty="0">
                <a:latin typeface="Times New Roman" panose="02020603050405020304" pitchFamily="18" charset="0"/>
                <a:cs typeface="Times New Roman" panose="02020603050405020304" pitchFamily="18" charset="0"/>
              </a:rPr>
              <a:t>survival status (classification)</a:t>
            </a:r>
            <a:endParaRPr lang="en-US" sz="1200" dirty="0">
              <a:latin typeface="Times New Roman" panose="02020603050405020304" pitchFamily="18" charset="0"/>
              <a:cs typeface="Times New Roman" panose="02020603050405020304" pitchFamily="18" charset="0"/>
            </a:endParaRPr>
          </a:p>
          <a:p>
            <a:pPr lvl="1">
              <a:lnSpc>
                <a:spcPct val="100000"/>
              </a:lnSpc>
              <a:spcBef>
                <a:spcPts val="600"/>
              </a:spcBef>
            </a:pPr>
            <a:r>
              <a:rPr lang="en-US" sz="1200" dirty="0">
                <a:latin typeface="Times New Roman" panose="02020603050405020304" pitchFamily="18" charset="0"/>
                <a:cs typeface="Times New Roman" panose="02020603050405020304" pitchFamily="18" charset="0"/>
              </a:rPr>
              <a:t>Predicts </a:t>
            </a:r>
            <a:r>
              <a:rPr lang="en-US" sz="1200" b="1" dirty="0">
                <a:latin typeface="Times New Roman" panose="02020603050405020304" pitchFamily="18" charset="0"/>
                <a:cs typeface="Times New Roman" panose="02020603050405020304" pitchFamily="18" charset="0"/>
              </a:rPr>
              <a:t>survival time in months (regression)</a:t>
            </a:r>
            <a:endParaRPr lang="en-US" sz="1200" dirty="0">
              <a:latin typeface="Times New Roman" panose="02020603050405020304" pitchFamily="18" charset="0"/>
              <a:cs typeface="Times New Roman" panose="02020603050405020304" pitchFamily="18" charset="0"/>
            </a:endParaRPr>
          </a:p>
          <a:p>
            <a:pPr>
              <a:lnSpc>
                <a:spcPct val="100000"/>
              </a:lnSpc>
            </a:pPr>
            <a:r>
              <a:rPr lang="en-US" sz="1400" b="1" dirty="0">
                <a:latin typeface="Times New Roman" panose="02020603050405020304" pitchFamily="18" charset="0"/>
                <a:cs typeface="Times New Roman" panose="02020603050405020304" pitchFamily="18" charset="0"/>
              </a:rPr>
              <a:t>Data-Driven Clinical Insights</a:t>
            </a:r>
          </a:p>
          <a:p>
            <a:pPr lvl="1">
              <a:lnSpc>
                <a:spcPct val="100000"/>
              </a:lnSpc>
              <a:spcBef>
                <a:spcPts val="600"/>
              </a:spcBef>
            </a:pPr>
            <a:r>
              <a:rPr lang="en-US" sz="1200" dirty="0">
                <a:latin typeface="Times New Roman" panose="02020603050405020304" pitchFamily="18" charset="0"/>
                <a:cs typeface="Times New Roman" panose="02020603050405020304" pitchFamily="18" charset="0"/>
              </a:rPr>
              <a:t>Identifies key survival risk factors.</a:t>
            </a:r>
          </a:p>
          <a:p>
            <a:pPr>
              <a:lnSpc>
                <a:spcPct val="100000"/>
              </a:lnSpc>
            </a:pPr>
            <a:r>
              <a:rPr lang="en-US" sz="1400" b="1" dirty="0">
                <a:latin typeface="Times New Roman" panose="02020603050405020304" pitchFamily="18" charset="0"/>
                <a:cs typeface="Times New Roman" panose="02020603050405020304" pitchFamily="18" charset="0"/>
              </a:rPr>
              <a:t>Practical Deployment</a:t>
            </a:r>
          </a:p>
          <a:p>
            <a:pPr lvl="1">
              <a:lnSpc>
                <a:spcPct val="100000"/>
              </a:lnSpc>
              <a:spcBef>
                <a:spcPts val="600"/>
              </a:spcBef>
            </a:pPr>
            <a:r>
              <a:rPr lang="en-US" sz="1200" dirty="0">
                <a:latin typeface="Times New Roman" panose="02020603050405020304" pitchFamily="18" charset="0"/>
                <a:cs typeface="Times New Roman" panose="02020603050405020304" pitchFamily="18" charset="0"/>
              </a:rPr>
              <a:t>Interactive web application using </a:t>
            </a:r>
            <a:r>
              <a:rPr lang="en-US" sz="1200" b="1" dirty="0" err="1">
                <a:latin typeface="Times New Roman" panose="02020603050405020304" pitchFamily="18" charset="0"/>
                <a:cs typeface="Times New Roman" panose="02020603050405020304" pitchFamily="18" charset="0"/>
              </a:rPr>
              <a:t>Streamlit</a:t>
            </a:r>
            <a:r>
              <a:rPr lang="en-US" sz="1200" dirty="0">
                <a:latin typeface="Times New Roman" panose="02020603050405020304" pitchFamily="18" charset="0"/>
                <a:cs typeface="Times New Roman" panose="02020603050405020304" pitchFamily="18" charset="0"/>
              </a:rPr>
              <a:t>.</a:t>
            </a:r>
          </a:p>
          <a:p>
            <a:pPr lvl="1">
              <a:lnSpc>
                <a:spcPct val="100000"/>
              </a:lnSpc>
              <a:spcBef>
                <a:spcPts val="600"/>
              </a:spcBef>
            </a:pPr>
            <a:r>
              <a:rPr lang="en-US" sz="1200" dirty="0">
                <a:latin typeface="Times New Roman" panose="02020603050405020304" pitchFamily="18" charset="0"/>
                <a:cs typeface="Times New Roman" panose="02020603050405020304" pitchFamily="18" charset="0"/>
              </a:rPr>
              <a:t>This supports </a:t>
            </a:r>
            <a:r>
              <a:rPr lang="en-US" sz="1200" b="1" dirty="0">
                <a:latin typeface="Times New Roman" panose="02020603050405020304" pitchFamily="18" charset="0"/>
                <a:cs typeface="Times New Roman" panose="02020603050405020304" pitchFamily="18" charset="0"/>
              </a:rPr>
              <a:t>precision oncology and clinical decision-making</a:t>
            </a:r>
            <a:r>
              <a:rPr lang="en-US" sz="1200" dirty="0">
                <a:latin typeface="Times New Roman" panose="02020603050405020304" pitchFamily="18" charset="0"/>
                <a:cs typeface="Times New Roman" panose="02020603050405020304" pitchFamily="18" charset="0"/>
              </a:rPr>
              <a:t>.</a:t>
            </a:r>
          </a:p>
        </p:txBody>
      </p:sp>
      <p:pic>
        <p:nvPicPr>
          <p:cNvPr id="4" name="Image 3">
            <a:extLst>
              <a:ext uri="{FF2B5EF4-FFF2-40B4-BE49-F238E27FC236}">
                <a16:creationId xmlns:a16="http://schemas.microsoft.com/office/drawing/2014/main" id="{CCC1CACB-EFFF-7EF6-9AE2-48D21DF4EA15}"/>
              </a:ext>
            </a:extLst>
          </p:cNvPr>
          <p:cNvPicPr>
            <a:picLocks/>
          </p:cNvPicPr>
          <p:nvPr/>
        </p:nvPicPr>
        <p:blipFill>
          <a:blip r:embed="rId3" cstate="print"/>
          <a:stretch>
            <a:fillRect/>
          </a:stretch>
        </p:blipFill>
        <p:spPr>
          <a:xfrm>
            <a:off x="4728117" y="1601408"/>
            <a:ext cx="4180686" cy="3401772"/>
          </a:xfrm>
          <a:prstGeom prst="rect">
            <a:avLst/>
          </a:prstGeom>
        </p:spPr>
      </p:pic>
    </p:spTree>
    <p:extLst>
      <p:ext uri="{BB962C8B-B14F-4D97-AF65-F5344CB8AC3E}">
        <p14:creationId xmlns:p14="http://schemas.microsoft.com/office/powerpoint/2010/main" val="336826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97A91-3B87-41D0-C063-118F98FC73E0}"/>
              </a:ext>
            </a:extLst>
          </p:cNvPr>
          <p:cNvSpPr>
            <a:spLocks noGrp="1"/>
          </p:cNvSpPr>
          <p:nvPr>
            <p:ph type="title"/>
          </p:nvPr>
        </p:nvSpPr>
        <p:spPr/>
        <p:txBody>
          <a:bodyPr/>
          <a:lstStyle/>
          <a:p>
            <a:r>
              <a:rPr lang="en-US" sz="1600" dirty="0">
                <a:latin typeface="Times New Roman" panose="02020603050405020304" pitchFamily="18" charset="0"/>
                <a:cs typeface="Times New Roman" panose="02020603050405020304" pitchFamily="18" charset="0"/>
              </a:rPr>
              <a:t>RESULTS AND DISCUSSION</a:t>
            </a:r>
            <a:endParaRPr lang="en-IN" sz="1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1CC1541-CBAE-4750-FF99-AC114293E2EC}"/>
              </a:ext>
            </a:extLst>
          </p:cNvPr>
          <p:cNvSpPr>
            <a:spLocks noGrp="1"/>
          </p:cNvSpPr>
          <p:nvPr>
            <p:ph type="body" idx="1"/>
          </p:nvPr>
        </p:nvSpPr>
        <p:spPr>
          <a:xfrm>
            <a:off x="729450" y="1937626"/>
            <a:ext cx="7752911" cy="3086927"/>
          </a:xfrm>
        </p:spPr>
        <p:txBody>
          <a:bodyPr/>
          <a:lstStyle/>
          <a:p>
            <a:pPr marL="146050" indent="0" algn="just">
              <a:buNone/>
            </a:pPr>
            <a:r>
              <a:rPr lang="en-US" sz="1400" b="1" dirty="0">
                <a:solidFill>
                  <a:schemeClr val="bg2"/>
                </a:solidFill>
                <a:latin typeface="Times New Roman" panose="02020603050405020304" pitchFamily="18" charset="0"/>
                <a:cs typeface="Times New Roman" panose="02020603050405020304" pitchFamily="18" charset="0"/>
              </a:rPr>
              <a:t>1. Model Performance</a:t>
            </a:r>
          </a:p>
          <a:p>
            <a:pPr lvl="1" algn="just">
              <a:lnSpc>
                <a:spcPct val="114000"/>
              </a:lnSpc>
              <a:spcBef>
                <a:spcPts val="400"/>
              </a:spcBef>
            </a:pPr>
            <a:r>
              <a:rPr lang="en-US" sz="1200" dirty="0">
                <a:solidFill>
                  <a:schemeClr val="bg2"/>
                </a:solidFill>
                <a:latin typeface="Times New Roman" panose="02020603050405020304" pitchFamily="18" charset="0"/>
                <a:cs typeface="Times New Roman" panose="02020603050405020304" pitchFamily="18" charset="0"/>
              </a:rPr>
              <a:t>The machine learning model (Random Forest) was trained on the breast cancer genomic dataset.</a:t>
            </a:r>
          </a:p>
          <a:p>
            <a:pPr lvl="1" algn="just">
              <a:lnSpc>
                <a:spcPct val="114000"/>
              </a:lnSpc>
              <a:spcBef>
                <a:spcPts val="400"/>
              </a:spcBef>
            </a:pPr>
            <a:r>
              <a:rPr lang="en-US" sz="1200" b="1" dirty="0">
                <a:solidFill>
                  <a:schemeClr val="bg2"/>
                </a:solidFill>
                <a:latin typeface="Times New Roman" panose="02020603050405020304" pitchFamily="18" charset="0"/>
                <a:cs typeface="Times New Roman" panose="02020603050405020304" pitchFamily="18" charset="0"/>
              </a:rPr>
              <a:t>Accuracy:</a:t>
            </a:r>
            <a:r>
              <a:rPr lang="en-US" sz="1200" dirty="0">
                <a:solidFill>
                  <a:schemeClr val="bg2"/>
                </a:solidFill>
                <a:latin typeface="Times New Roman" panose="02020603050405020304" pitchFamily="18" charset="0"/>
                <a:cs typeface="Times New Roman" panose="02020603050405020304" pitchFamily="18" charset="0"/>
              </a:rPr>
              <a:t> 96% on test data</a:t>
            </a:r>
          </a:p>
          <a:p>
            <a:pPr lvl="1" algn="just">
              <a:lnSpc>
                <a:spcPct val="114000"/>
              </a:lnSpc>
              <a:spcBef>
                <a:spcPts val="400"/>
              </a:spcBef>
            </a:pPr>
            <a:r>
              <a:rPr lang="en-US" sz="1200" dirty="0">
                <a:solidFill>
                  <a:schemeClr val="bg2"/>
                </a:solidFill>
                <a:latin typeface="Times New Roman" panose="02020603050405020304" pitchFamily="18" charset="0"/>
                <a:cs typeface="Times New Roman" panose="02020603050405020304" pitchFamily="18" charset="0"/>
              </a:rPr>
              <a:t>The model successfully predicted the survival rate based on gene expression values.</a:t>
            </a:r>
          </a:p>
          <a:p>
            <a:pPr marL="146050" indent="0" algn="just">
              <a:buNone/>
            </a:pPr>
            <a:endParaRPr lang="en-IN" sz="1200" dirty="0">
              <a:solidFill>
                <a:schemeClr val="bg2"/>
              </a:solidFill>
              <a:latin typeface="Times New Roman" panose="02020603050405020304" pitchFamily="18" charset="0"/>
              <a:cs typeface="Times New Roman" panose="02020603050405020304" pitchFamily="18" charset="0"/>
            </a:endParaRPr>
          </a:p>
          <a:p>
            <a:pPr marL="146050" indent="0" algn="just">
              <a:buNone/>
            </a:pPr>
            <a:r>
              <a:rPr lang="en-US" sz="1400" b="1" dirty="0">
                <a:solidFill>
                  <a:schemeClr val="bg2"/>
                </a:solidFill>
                <a:latin typeface="Times New Roman" panose="02020603050405020304" pitchFamily="18" charset="0"/>
                <a:cs typeface="Times New Roman" panose="02020603050405020304" pitchFamily="18" charset="0"/>
              </a:rPr>
              <a:t>2. Explainability (SHAP Analysis)</a:t>
            </a:r>
          </a:p>
          <a:p>
            <a:pPr lvl="1" algn="just">
              <a:spcBef>
                <a:spcPts val="400"/>
              </a:spcBef>
            </a:pPr>
            <a:r>
              <a:rPr lang="en-US" sz="1200" dirty="0">
                <a:solidFill>
                  <a:schemeClr val="bg2"/>
                </a:solidFill>
                <a:latin typeface="Times New Roman" panose="02020603050405020304" pitchFamily="18" charset="0"/>
                <a:cs typeface="Times New Roman" panose="02020603050405020304" pitchFamily="18" charset="0"/>
              </a:rPr>
              <a:t>SHAP analysis identified the most important genes affecting predictions.</a:t>
            </a:r>
          </a:p>
          <a:p>
            <a:pPr lvl="1" algn="just">
              <a:spcBef>
                <a:spcPts val="400"/>
              </a:spcBef>
            </a:pPr>
            <a:r>
              <a:rPr lang="en-US" sz="1200" dirty="0">
                <a:solidFill>
                  <a:schemeClr val="bg2"/>
                </a:solidFill>
                <a:latin typeface="Times New Roman" panose="02020603050405020304" pitchFamily="18" charset="0"/>
                <a:cs typeface="Times New Roman" panose="02020603050405020304" pitchFamily="18" charset="0"/>
              </a:rPr>
              <a:t>Each patient’s prediction was explained in terms of </a:t>
            </a:r>
            <a:r>
              <a:rPr lang="en-US" sz="1200" b="1" dirty="0">
                <a:solidFill>
                  <a:schemeClr val="bg2"/>
                </a:solidFill>
                <a:latin typeface="Times New Roman" panose="02020603050405020304" pitchFamily="18" charset="0"/>
                <a:cs typeface="Times New Roman" panose="02020603050405020304" pitchFamily="18" charset="0"/>
              </a:rPr>
              <a:t>gene influence</a:t>
            </a:r>
            <a:r>
              <a:rPr lang="en-US" sz="1200" dirty="0">
                <a:solidFill>
                  <a:schemeClr val="bg2"/>
                </a:solidFill>
                <a:latin typeface="Times New Roman" panose="02020603050405020304" pitchFamily="18" charset="0"/>
                <a:cs typeface="Times New Roman" panose="02020603050405020304" pitchFamily="18" charset="0"/>
              </a:rPr>
              <a:t>, helping doctors understand the biological factors behind the risk.</a:t>
            </a:r>
          </a:p>
          <a:p>
            <a:pPr lvl="1" algn="just">
              <a:spcBef>
                <a:spcPts val="400"/>
              </a:spcBef>
            </a:pPr>
            <a:r>
              <a:rPr lang="en-US" sz="1200" dirty="0">
                <a:solidFill>
                  <a:schemeClr val="bg2"/>
                </a:solidFill>
                <a:latin typeface="Times New Roman" panose="02020603050405020304" pitchFamily="18" charset="0"/>
                <a:cs typeface="Times New Roman" panose="02020603050405020304" pitchFamily="18" charset="0"/>
              </a:rPr>
              <a:t>Example: Certain genes had a high positive contribution to predicting cancer, while others reduced risk.</a:t>
            </a:r>
          </a:p>
          <a:p>
            <a:pPr marL="146050" indent="0" algn="just">
              <a:buNone/>
            </a:pPr>
            <a:endParaRPr lang="en-IN" sz="14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9706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F44CBAE-0C02-1B07-6007-F63C008FDC78}"/>
              </a:ext>
            </a:extLst>
          </p:cNvPr>
          <p:cNvSpPr>
            <a:spLocks noGrp="1"/>
          </p:cNvSpPr>
          <p:nvPr>
            <p:ph type="body" idx="1"/>
          </p:nvPr>
        </p:nvSpPr>
        <p:spPr>
          <a:xfrm>
            <a:off x="795006" y="1543617"/>
            <a:ext cx="7382556" cy="2991212"/>
          </a:xfrm>
        </p:spPr>
        <p:txBody>
          <a:bodyPr/>
          <a:lstStyle/>
          <a:p>
            <a:pPr marL="146050" indent="0" algn="just">
              <a:buNone/>
            </a:pPr>
            <a:r>
              <a:rPr lang="en-US" sz="1400" b="1" dirty="0">
                <a:solidFill>
                  <a:schemeClr val="bg2"/>
                </a:solidFill>
                <a:latin typeface="Times New Roman" panose="02020603050405020304" pitchFamily="18" charset="0"/>
                <a:cs typeface="Times New Roman" panose="02020603050405020304" pitchFamily="18" charset="0"/>
              </a:rPr>
              <a:t>3. Survival Rate Estimation</a:t>
            </a:r>
          </a:p>
          <a:p>
            <a:pPr lvl="1" algn="just">
              <a:spcBef>
                <a:spcPts val="400"/>
              </a:spcBef>
            </a:pPr>
            <a:r>
              <a:rPr lang="en-US" sz="1200" dirty="0">
                <a:solidFill>
                  <a:schemeClr val="bg2"/>
                </a:solidFill>
                <a:latin typeface="Times New Roman" panose="02020603050405020304" pitchFamily="18" charset="0"/>
                <a:cs typeface="Times New Roman" panose="02020603050405020304" pitchFamily="18" charset="0"/>
              </a:rPr>
              <a:t>The survival prediction module provided an </a:t>
            </a:r>
            <a:r>
              <a:rPr lang="en-US" sz="1200" b="1" dirty="0">
                <a:solidFill>
                  <a:schemeClr val="bg2"/>
                </a:solidFill>
                <a:latin typeface="Times New Roman" panose="02020603050405020304" pitchFamily="18" charset="0"/>
                <a:cs typeface="Times New Roman" panose="02020603050405020304" pitchFamily="18" charset="0"/>
              </a:rPr>
              <a:t>estimated survival probability</a:t>
            </a:r>
            <a:r>
              <a:rPr lang="en-US" sz="1200" dirty="0">
                <a:solidFill>
                  <a:schemeClr val="bg2"/>
                </a:solidFill>
                <a:latin typeface="Times New Roman" panose="02020603050405020304" pitchFamily="18" charset="0"/>
                <a:cs typeface="Times New Roman" panose="02020603050405020304" pitchFamily="18" charset="0"/>
              </a:rPr>
              <a:t> based on patient genomic and clinical features.</a:t>
            </a:r>
          </a:p>
          <a:p>
            <a:pPr lvl="1" algn="just">
              <a:spcBef>
                <a:spcPts val="400"/>
              </a:spcBef>
            </a:pPr>
            <a:r>
              <a:rPr lang="en-US" sz="1200" dirty="0">
                <a:solidFill>
                  <a:schemeClr val="bg2"/>
                </a:solidFill>
                <a:latin typeface="Times New Roman" panose="02020603050405020304" pitchFamily="18" charset="0"/>
                <a:cs typeface="Times New Roman" panose="02020603050405020304" pitchFamily="18" charset="0"/>
              </a:rPr>
              <a:t>Helps doctors evaluate </a:t>
            </a:r>
            <a:r>
              <a:rPr lang="en-US" sz="1200" b="1" dirty="0">
                <a:solidFill>
                  <a:schemeClr val="bg2"/>
                </a:solidFill>
                <a:latin typeface="Times New Roman" panose="02020603050405020304" pitchFamily="18" charset="0"/>
                <a:cs typeface="Times New Roman" panose="02020603050405020304" pitchFamily="18" charset="0"/>
              </a:rPr>
              <a:t>treatment options</a:t>
            </a:r>
            <a:r>
              <a:rPr lang="en-US" sz="1200" dirty="0">
                <a:solidFill>
                  <a:schemeClr val="bg2"/>
                </a:solidFill>
                <a:latin typeface="Times New Roman" panose="02020603050405020304" pitchFamily="18" charset="0"/>
                <a:cs typeface="Times New Roman" panose="02020603050405020304" pitchFamily="18" charset="0"/>
              </a:rPr>
              <a:t> and prioritize high-risk patients.</a:t>
            </a:r>
          </a:p>
          <a:p>
            <a:pPr marL="146050" indent="0" algn="just">
              <a:buNone/>
            </a:pPr>
            <a:endParaRPr lang="en-IN" dirty="0"/>
          </a:p>
          <a:p>
            <a:pPr marL="146050" indent="0" algn="just">
              <a:buNone/>
            </a:pPr>
            <a:r>
              <a:rPr lang="en-US" sz="1400" b="1" dirty="0">
                <a:solidFill>
                  <a:schemeClr val="bg2"/>
                </a:solidFill>
                <a:latin typeface="Times New Roman" panose="02020603050405020304" pitchFamily="18" charset="0"/>
                <a:cs typeface="Times New Roman" panose="02020603050405020304" pitchFamily="18" charset="0"/>
              </a:rPr>
              <a:t>4. Dual Report Generation</a:t>
            </a:r>
          </a:p>
          <a:p>
            <a:pPr lvl="1" algn="just">
              <a:spcBef>
                <a:spcPts val="400"/>
              </a:spcBef>
            </a:pPr>
            <a:r>
              <a:rPr lang="en-US" sz="1200" b="1" dirty="0">
                <a:solidFill>
                  <a:schemeClr val="bg2"/>
                </a:solidFill>
                <a:latin typeface="Times New Roman" panose="02020603050405020304" pitchFamily="18" charset="0"/>
                <a:cs typeface="Times New Roman" panose="02020603050405020304" pitchFamily="18" charset="0"/>
              </a:rPr>
              <a:t>Doctor Report:</a:t>
            </a:r>
            <a:r>
              <a:rPr lang="en-US" sz="1200" dirty="0">
                <a:solidFill>
                  <a:schemeClr val="bg2"/>
                </a:solidFill>
                <a:latin typeface="Times New Roman" panose="02020603050405020304" pitchFamily="18" charset="0"/>
                <a:cs typeface="Times New Roman" panose="02020603050405020304" pitchFamily="18" charset="0"/>
              </a:rPr>
              <a:t> Detailed information including model prediction, SHAP gene contribution, and risk analysis.</a:t>
            </a:r>
          </a:p>
          <a:p>
            <a:pPr lvl="1" algn="just">
              <a:spcBef>
                <a:spcPts val="400"/>
              </a:spcBef>
            </a:pPr>
            <a:r>
              <a:rPr lang="en-US" sz="1200" b="1" dirty="0">
                <a:solidFill>
                  <a:schemeClr val="bg2"/>
                </a:solidFill>
                <a:latin typeface="Times New Roman" panose="02020603050405020304" pitchFamily="18" charset="0"/>
                <a:cs typeface="Times New Roman" panose="02020603050405020304" pitchFamily="18" charset="0"/>
              </a:rPr>
              <a:t>Patient Report:</a:t>
            </a:r>
            <a:r>
              <a:rPr lang="en-US" sz="1200" dirty="0">
                <a:solidFill>
                  <a:schemeClr val="bg2"/>
                </a:solidFill>
                <a:latin typeface="Times New Roman" panose="02020603050405020304" pitchFamily="18" charset="0"/>
                <a:cs typeface="Times New Roman" panose="02020603050405020304" pitchFamily="18" charset="0"/>
              </a:rPr>
              <a:t> Simplified summary explaining risk, lifestyle factors, and precautions in easy-to-understand language.</a:t>
            </a:r>
          </a:p>
          <a:p>
            <a:pPr lvl="1" algn="just">
              <a:spcBef>
                <a:spcPts val="400"/>
              </a:spcBef>
            </a:pPr>
            <a:r>
              <a:rPr lang="en-US" sz="1200" dirty="0">
                <a:solidFill>
                  <a:schemeClr val="bg2"/>
                </a:solidFill>
                <a:latin typeface="Times New Roman" panose="02020603050405020304" pitchFamily="18" charset="0"/>
                <a:cs typeface="Times New Roman" panose="02020603050405020304" pitchFamily="18" charset="0"/>
              </a:rPr>
              <a:t>This approach improves </a:t>
            </a:r>
            <a:r>
              <a:rPr lang="en-US" sz="1200" b="1" dirty="0">
                <a:solidFill>
                  <a:schemeClr val="bg2"/>
                </a:solidFill>
                <a:latin typeface="Times New Roman" panose="02020603050405020304" pitchFamily="18" charset="0"/>
                <a:cs typeface="Times New Roman" panose="02020603050405020304" pitchFamily="18" charset="0"/>
              </a:rPr>
              <a:t>communication</a:t>
            </a:r>
            <a:r>
              <a:rPr lang="en-US" sz="1200" dirty="0">
                <a:solidFill>
                  <a:schemeClr val="bg2"/>
                </a:solidFill>
                <a:latin typeface="Times New Roman" panose="02020603050405020304" pitchFamily="18" charset="0"/>
                <a:cs typeface="Times New Roman" panose="02020603050405020304" pitchFamily="18" charset="0"/>
              </a:rPr>
              <a:t> between doctors and patients, making the predictions actionable.</a:t>
            </a:r>
          </a:p>
          <a:p>
            <a:pPr marL="146050" indent="0" algn="just">
              <a:buNone/>
            </a:pPr>
            <a:endParaRPr lang="en-IN" dirty="0"/>
          </a:p>
        </p:txBody>
      </p:sp>
    </p:spTree>
    <p:extLst>
      <p:ext uri="{BB962C8B-B14F-4D97-AF65-F5344CB8AC3E}">
        <p14:creationId xmlns:p14="http://schemas.microsoft.com/office/powerpoint/2010/main" val="3169263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FD6A54B-8F64-8FDA-8B41-0C029A4C021E}"/>
              </a:ext>
            </a:extLst>
          </p:cNvPr>
          <p:cNvGraphicFramePr>
            <a:graphicFrameLocks noGrp="1"/>
          </p:cNvGraphicFramePr>
          <p:nvPr>
            <p:extLst>
              <p:ext uri="{D42A27DB-BD31-4B8C-83A1-F6EECF244321}">
                <p14:modId xmlns:p14="http://schemas.microsoft.com/office/powerpoint/2010/main" val="146954938"/>
              </p:ext>
            </p:extLst>
          </p:nvPr>
        </p:nvGraphicFramePr>
        <p:xfrm>
          <a:off x="133581" y="1446444"/>
          <a:ext cx="2542712" cy="2349039"/>
        </p:xfrm>
        <a:graphic>
          <a:graphicData uri="http://schemas.openxmlformats.org/drawingml/2006/table">
            <a:tbl>
              <a:tblPr firstRow="1" firstCol="1" lastRow="1" lastCol="1" bandRow="1" bandCol="1">
                <a:tableStyleId>{073A0DAA-6AF3-43AB-8588-CEC1D06C72B9}</a:tableStyleId>
              </a:tblPr>
              <a:tblGrid>
                <a:gridCol w="1949413">
                  <a:extLst>
                    <a:ext uri="{9D8B030D-6E8A-4147-A177-3AD203B41FA5}">
                      <a16:colId xmlns:a16="http://schemas.microsoft.com/office/drawing/2014/main" val="512363171"/>
                    </a:ext>
                  </a:extLst>
                </a:gridCol>
                <a:gridCol w="593299">
                  <a:extLst>
                    <a:ext uri="{9D8B030D-6E8A-4147-A177-3AD203B41FA5}">
                      <a16:colId xmlns:a16="http://schemas.microsoft.com/office/drawing/2014/main" val="1179469874"/>
                    </a:ext>
                  </a:extLst>
                </a:gridCol>
              </a:tblGrid>
              <a:tr h="323931">
                <a:tc>
                  <a:txBody>
                    <a:bodyPr/>
                    <a:lstStyle/>
                    <a:p>
                      <a:pPr marL="74930">
                        <a:lnSpc>
                          <a:spcPct val="150000"/>
                        </a:lnSpc>
                        <a:buNone/>
                      </a:pPr>
                      <a:r>
                        <a:rPr lang="en-US" sz="1600" spc="-10" dirty="0">
                          <a:effectLst/>
                        </a:rPr>
                        <a:t>Metric</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445" algn="ctr">
                        <a:lnSpc>
                          <a:spcPct val="150000"/>
                        </a:lnSpc>
                        <a:buNone/>
                      </a:pPr>
                      <a:r>
                        <a:rPr lang="en-US" sz="1600" spc="-10" dirty="0">
                          <a:effectLst/>
                        </a:rPr>
                        <a:t>Value</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26883620"/>
                  </a:ext>
                </a:extLst>
              </a:tr>
              <a:tr h="222711">
                <a:tc>
                  <a:txBody>
                    <a:bodyPr/>
                    <a:lstStyle/>
                    <a:p>
                      <a:pPr marL="74930">
                        <a:lnSpc>
                          <a:spcPct val="150000"/>
                        </a:lnSpc>
                        <a:buNone/>
                      </a:pPr>
                      <a:r>
                        <a:rPr lang="en-US" sz="1100">
                          <a:effectLst/>
                        </a:rPr>
                        <a:t>Sample</a:t>
                      </a:r>
                      <a:r>
                        <a:rPr lang="en-US" sz="1100" spc="50">
                          <a:effectLst/>
                        </a:rPr>
                        <a:t> </a:t>
                      </a:r>
                      <a:r>
                        <a:rPr lang="en-US" sz="1100" spc="-20">
                          <a:effectLst/>
                        </a:rPr>
                        <a:t>Size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445" algn="ctr">
                        <a:lnSpc>
                          <a:spcPct val="150000"/>
                        </a:lnSpc>
                        <a:buNone/>
                      </a:pPr>
                      <a:r>
                        <a:rPr lang="en-US" sz="1100" spc="-10">
                          <a:effectLst/>
                        </a:rPr>
                        <a:t>2,509</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157419431"/>
                  </a:ext>
                </a:extLst>
              </a:tr>
              <a:tr h="222711">
                <a:tc>
                  <a:txBody>
                    <a:bodyPr/>
                    <a:lstStyle/>
                    <a:p>
                      <a:pPr marL="74930">
                        <a:lnSpc>
                          <a:spcPct val="150000"/>
                        </a:lnSpc>
                        <a:buNone/>
                      </a:pPr>
                      <a:r>
                        <a:rPr lang="en-US" sz="1100" spc="-10">
                          <a:effectLst/>
                        </a:rPr>
                        <a:t>Accuracy</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445" algn="ctr">
                        <a:lnSpc>
                          <a:spcPct val="150000"/>
                        </a:lnSpc>
                        <a:buNone/>
                      </a:pPr>
                      <a:r>
                        <a:rPr lang="en-US" sz="1100" spc="-10">
                          <a:effectLst/>
                        </a:rPr>
                        <a:t>0.963</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874481159"/>
                  </a:ext>
                </a:extLst>
              </a:tr>
              <a:tr h="222711">
                <a:tc>
                  <a:txBody>
                    <a:bodyPr/>
                    <a:lstStyle/>
                    <a:p>
                      <a:pPr marL="74930">
                        <a:lnSpc>
                          <a:spcPct val="150000"/>
                        </a:lnSpc>
                        <a:buNone/>
                      </a:pPr>
                      <a:r>
                        <a:rPr lang="en-US" sz="1100" spc="-20" dirty="0">
                          <a:effectLst/>
                        </a:rPr>
                        <a:t>ROC-</a:t>
                      </a:r>
                      <a:r>
                        <a:rPr lang="en-US" sz="1100" spc="-25" dirty="0">
                          <a:effectLst/>
                        </a:rPr>
                        <a:t>AUC</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445" algn="ctr">
                        <a:lnSpc>
                          <a:spcPct val="150000"/>
                        </a:lnSpc>
                        <a:buNone/>
                      </a:pPr>
                      <a:r>
                        <a:rPr lang="en-US" sz="1100" spc="-10">
                          <a:effectLst/>
                        </a:rPr>
                        <a:t>0.991</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246367493"/>
                  </a:ext>
                </a:extLst>
              </a:tr>
              <a:tr h="222711">
                <a:tc>
                  <a:txBody>
                    <a:bodyPr/>
                    <a:lstStyle/>
                    <a:p>
                      <a:pPr marL="74930">
                        <a:lnSpc>
                          <a:spcPct val="150000"/>
                        </a:lnSpc>
                        <a:buNone/>
                      </a:pPr>
                      <a:r>
                        <a:rPr lang="en-US" sz="1100" spc="-10">
                          <a:effectLst/>
                        </a:rPr>
                        <a:t>Sensitivity</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445" algn="ctr">
                        <a:lnSpc>
                          <a:spcPct val="150000"/>
                        </a:lnSpc>
                        <a:buNone/>
                      </a:pPr>
                      <a:r>
                        <a:rPr lang="en-US" sz="1100" spc="-20">
                          <a:effectLst/>
                        </a:rPr>
                        <a:t>0.95</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130927143"/>
                  </a:ext>
                </a:extLst>
              </a:tr>
              <a:tr h="222711">
                <a:tc>
                  <a:txBody>
                    <a:bodyPr/>
                    <a:lstStyle/>
                    <a:p>
                      <a:pPr marL="74930">
                        <a:lnSpc>
                          <a:spcPct val="150000"/>
                        </a:lnSpc>
                        <a:buNone/>
                      </a:pPr>
                      <a:r>
                        <a:rPr lang="en-US" sz="1100" spc="-10">
                          <a:effectLst/>
                        </a:rPr>
                        <a:t>Specificity</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445" algn="ctr">
                        <a:lnSpc>
                          <a:spcPct val="150000"/>
                        </a:lnSpc>
                        <a:buNone/>
                      </a:pPr>
                      <a:r>
                        <a:rPr lang="en-US" sz="1100" spc="-20">
                          <a:effectLst/>
                        </a:rPr>
                        <a:t>0.97</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409483448"/>
                  </a:ext>
                </a:extLst>
              </a:tr>
              <a:tr h="222711">
                <a:tc>
                  <a:txBody>
                    <a:bodyPr/>
                    <a:lstStyle/>
                    <a:p>
                      <a:pPr marL="74930">
                        <a:lnSpc>
                          <a:spcPct val="150000"/>
                        </a:lnSpc>
                        <a:buNone/>
                      </a:pPr>
                      <a:r>
                        <a:rPr lang="en-US" sz="1100" spc="-10">
                          <a:effectLst/>
                        </a:rPr>
                        <a:t>Precision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445" algn="ctr">
                        <a:lnSpc>
                          <a:spcPct val="150000"/>
                        </a:lnSpc>
                        <a:buNone/>
                      </a:pPr>
                      <a:r>
                        <a:rPr lang="en-US" sz="1100" spc="-20">
                          <a:effectLst/>
                        </a:rPr>
                        <a:t>0.96</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451154081"/>
                  </a:ext>
                </a:extLst>
              </a:tr>
              <a:tr h="222711">
                <a:tc>
                  <a:txBody>
                    <a:bodyPr/>
                    <a:lstStyle/>
                    <a:p>
                      <a:pPr marL="74930">
                        <a:lnSpc>
                          <a:spcPct val="150000"/>
                        </a:lnSpc>
                        <a:buNone/>
                      </a:pPr>
                      <a:r>
                        <a:rPr lang="en-US" sz="1100" spc="-10">
                          <a:effectLst/>
                        </a:rPr>
                        <a:t>F1-</a:t>
                      </a:r>
                      <a:r>
                        <a:rPr lang="en-US" sz="1100" spc="-20">
                          <a:effectLst/>
                        </a:rPr>
                        <a:t>score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445" algn="ctr">
                        <a:lnSpc>
                          <a:spcPct val="150000"/>
                        </a:lnSpc>
                        <a:buNone/>
                      </a:pPr>
                      <a:r>
                        <a:rPr lang="en-US" sz="1100" spc="-20">
                          <a:effectLst/>
                        </a:rPr>
                        <a:t>0.96</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774005977"/>
                  </a:ext>
                </a:extLst>
              </a:tr>
              <a:tr h="242028">
                <a:tc>
                  <a:txBody>
                    <a:bodyPr/>
                    <a:lstStyle/>
                    <a:p>
                      <a:pPr marL="74930">
                        <a:lnSpc>
                          <a:spcPct val="150000"/>
                        </a:lnSpc>
                        <a:buNone/>
                      </a:pPr>
                      <a:r>
                        <a:rPr lang="en-US" sz="1100" dirty="0">
                          <a:effectLst/>
                        </a:rPr>
                        <a:t>Cross-validation </a:t>
                      </a:r>
                      <a:r>
                        <a:rPr lang="en-US" sz="1100" spc="-10" dirty="0">
                          <a:effectLst/>
                        </a:rPr>
                        <a:t>Accuracy</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445" algn="ctr">
                        <a:lnSpc>
                          <a:spcPct val="150000"/>
                        </a:lnSpc>
                        <a:buNone/>
                      </a:pPr>
                      <a:r>
                        <a:rPr lang="en-US" sz="1100" spc="-10" dirty="0">
                          <a:effectLst/>
                        </a:rPr>
                        <a:t>0.937</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976087469"/>
                  </a:ext>
                </a:extLst>
              </a:tr>
              <a:tr h="224103">
                <a:tc>
                  <a:txBody>
                    <a:bodyPr/>
                    <a:lstStyle/>
                    <a:p>
                      <a:pPr marL="74930">
                        <a:lnSpc>
                          <a:spcPct val="150000"/>
                        </a:lnSpc>
                        <a:buNone/>
                      </a:pPr>
                      <a:r>
                        <a:rPr lang="en-US" sz="1100" spc="-10" dirty="0">
                          <a:effectLst/>
                        </a:rPr>
                        <a:t>Cross-validation</a:t>
                      </a:r>
                      <a:r>
                        <a:rPr lang="en-US" sz="1100" spc="145" dirty="0">
                          <a:effectLst/>
                        </a:rPr>
                        <a:t> </a:t>
                      </a:r>
                      <a:r>
                        <a:rPr lang="en-US" sz="1100" spc="-10" dirty="0">
                          <a:effectLst/>
                        </a:rPr>
                        <a:t>ROC-</a:t>
                      </a:r>
                      <a:r>
                        <a:rPr lang="en-US" sz="1100" spc="-25" dirty="0">
                          <a:effectLst/>
                        </a:rPr>
                        <a:t>AUC</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445" algn="ctr">
                        <a:lnSpc>
                          <a:spcPct val="150000"/>
                        </a:lnSpc>
                        <a:buNone/>
                      </a:pPr>
                      <a:r>
                        <a:rPr lang="en-US" sz="1100" spc="-10" dirty="0">
                          <a:effectLst/>
                        </a:rPr>
                        <a:t>0.978</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257454531"/>
                  </a:ext>
                </a:extLst>
              </a:tr>
            </a:tbl>
          </a:graphicData>
        </a:graphic>
      </p:graphicFrame>
      <p:sp>
        <p:nvSpPr>
          <p:cNvPr id="6" name="TextBox 5">
            <a:extLst>
              <a:ext uri="{FF2B5EF4-FFF2-40B4-BE49-F238E27FC236}">
                <a16:creationId xmlns:a16="http://schemas.microsoft.com/office/drawing/2014/main" id="{C6FA960C-3CBC-6158-76D9-6A85DE0BDDF8}"/>
              </a:ext>
            </a:extLst>
          </p:cNvPr>
          <p:cNvSpPr txBox="1"/>
          <p:nvPr/>
        </p:nvSpPr>
        <p:spPr>
          <a:xfrm>
            <a:off x="-109771" y="4368025"/>
            <a:ext cx="3192966" cy="523220"/>
          </a:xfrm>
          <a:prstGeom prst="rect">
            <a:avLst/>
          </a:prstGeom>
          <a:noFill/>
        </p:spPr>
        <p:txBody>
          <a:bodyPr wrap="square">
            <a:spAutoFit/>
          </a:bodyPr>
          <a:lstStyle/>
          <a:p>
            <a:pPr marR="36830" algn="ctr">
              <a:buNone/>
            </a:pPr>
            <a:r>
              <a:rPr lang="en-US" sz="1400" cap="small" dirty="0">
                <a:effectLst/>
                <a:latin typeface="Times New Roman" panose="02020603050405020304" pitchFamily="18" charset="0"/>
                <a:ea typeface="Times New Roman" panose="02020603050405020304" pitchFamily="18" charset="0"/>
              </a:rPr>
              <a:t>Classification</a:t>
            </a:r>
            <a:r>
              <a:rPr lang="en-US" sz="1400" cap="small" spc="210" dirty="0">
                <a:effectLst/>
                <a:latin typeface="Times New Roman" panose="02020603050405020304" pitchFamily="18" charset="0"/>
                <a:ea typeface="Times New Roman" panose="02020603050405020304" pitchFamily="18" charset="0"/>
              </a:rPr>
              <a:t> </a:t>
            </a:r>
            <a:r>
              <a:rPr lang="en-US" sz="1400" cap="small" dirty="0">
                <a:effectLst/>
                <a:latin typeface="Times New Roman" panose="02020603050405020304" pitchFamily="18" charset="0"/>
                <a:ea typeface="Times New Roman" panose="02020603050405020304" pitchFamily="18" charset="0"/>
              </a:rPr>
              <a:t>Metrics</a:t>
            </a:r>
            <a:r>
              <a:rPr lang="en-US" sz="1400" cap="small" spc="215" dirty="0">
                <a:effectLst/>
                <a:latin typeface="Times New Roman" panose="02020603050405020304" pitchFamily="18" charset="0"/>
                <a:ea typeface="Times New Roman" panose="02020603050405020304" pitchFamily="18" charset="0"/>
              </a:rPr>
              <a:t> </a:t>
            </a:r>
            <a:r>
              <a:rPr lang="en-US" sz="1400" cap="small" dirty="0">
                <a:effectLst/>
                <a:latin typeface="Times New Roman" panose="02020603050405020304" pitchFamily="18" charset="0"/>
                <a:ea typeface="Times New Roman" panose="02020603050405020304" pitchFamily="18" charset="0"/>
              </a:rPr>
              <a:t>on</a:t>
            </a:r>
            <a:r>
              <a:rPr lang="en-US" sz="1400" cap="small" spc="215" dirty="0">
                <a:effectLst/>
                <a:latin typeface="Times New Roman" panose="02020603050405020304" pitchFamily="18" charset="0"/>
                <a:ea typeface="Times New Roman" panose="02020603050405020304" pitchFamily="18" charset="0"/>
              </a:rPr>
              <a:t> </a:t>
            </a:r>
            <a:r>
              <a:rPr lang="en-US" sz="1400" cap="small" dirty="0">
                <a:effectLst/>
                <a:latin typeface="Times New Roman" panose="02020603050405020304" pitchFamily="18" charset="0"/>
                <a:ea typeface="Times New Roman" panose="02020603050405020304" pitchFamily="18" charset="0"/>
              </a:rPr>
              <a:t>METABRIC</a:t>
            </a:r>
            <a:r>
              <a:rPr lang="en-US" sz="1400" cap="small" spc="165" dirty="0">
                <a:effectLst/>
                <a:latin typeface="Times New Roman" panose="02020603050405020304" pitchFamily="18" charset="0"/>
                <a:ea typeface="Times New Roman" panose="02020603050405020304" pitchFamily="18" charset="0"/>
              </a:rPr>
              <a:t> </a:t>
            </a:r>
            <a:r>
              <a:rPr lang="en-US" sz="1400" cap="small" dirty="0">
                <a:effectLst/>
                <a:latin typeface="Times New Roman" panose="02020603050405020304" pitchFamily="18" charset="0"/>
                <a:ea typeface="Times New Roman" panose="02020603050405020304" pitchFamily="18" charset="0"/>
              </a:rPr>
              <a:t>(Random</a:t>
            </a:r>
            <a:r>
              <a:rPr lang="en-US" sz="1400" cap="small" spc="215" dirty="0">
                <a:effectLst/>
                <a:latin typeface="Times New Roman" panose="02020603050405020304" pitchFamily="18" charset="0"/>
                <a:ea typeface="Times New Roman" panose="02020603050405020304" pitchFamily="18" charset="0"/>
              </a:rPr>
              <a:t> </a:t>
            </a:r>
            <a:r>
              <a:rPr lang="en-US" sz="1400" cap="small" spc="-10" dirty="0">
                <a:effectLst/>
                <a:latin typeface="Times New Roman" panose="02020603050405020304" pitchFamily="18" charset="0"/>
                <a:ea typeface="Times New Roman" panose="02020603050405020304" pitchFamily="18" charset="0"/>
              </a:rPr>
              <a:t>Forest)</a:t>
            </a:r>
            <a:endParaRPr lang="en-IN" sz="2400" dirty="0">
              <a:effectLst/>
              <a:latin typeface="Times New Roman" panose="02020603050405020304" pitchFamily="18" charset="0"/>
              <a:ea typeface="Times New Roman" panose="02020603050405020304" pitchFamily="18" charset="0"/>
            </a:endParaRPr>
          </a:p>
        </p:txBody>
      </p:sp>
      <p:graphicFrame>
        <p:nvGraphicFramePr>
          <p:cNvPr id="7" name="Table 6">
            <a:extLst>
              <a:ext uri="{FF2B5EF4-FFF2-40B4-BE49-F238E27FC236}">
                <a16:creationId xmlns:a16="http://schemas.microsoft.com/office/drawing/2014/main" id="{C985A3F1-1395-D584-815C-9765433FDB6F}"/>
              </a:ext>
            </a:extLst>
          </p:cNvPr>
          <p:cNvGraphicFramePr>
            <a:graphicFrameLocks noGrp="1"/>
          </p:cNvGraphicFramePr>
          <p:nvPr>
            <p:extLst>
              <p:ext uri="{D42A27DB-BD31-4B8C-83A1-F6EECF244321}">
                <p14:modId xmlns:p14="http://schemas.microsoft.com/office/powerpoint/2010/main" val="1299938577"/>
              </p:ext>
            </p:extLst>
          </p:nvPr>
        </p:nvGraphicFramePr>
        <p:xfrm>
          <a:off x="2687615" y="1446444"/>
          <a:ext cx="2862212" cy="2349038"/>
        </p:xfrm>
        <a:graphic>
          <a:graphicData uri="http://schemas.openxmlformats.org/drawingml/2006/table">
            <a:tbl>
              <a:tblPr firstRow="1" firstCol="1" lastRow="1" lastCol="1" bandRow="1" bandCol="1">
                <a:tableStyleId>{F5AB1C69-6EDB-4FF4-983F-18BD219EF322}</a:tableStyleId>
              </a:tblPr>
              <a:tblGrid>
                <a:gridCol w="2078325">
                  <a:extLst>
                    <a:ext uri="{9D8B030D-6E8A-4147-A177-3AD203B41FA5}">
                      <a16:colId xmlns:a16="http://schemas.microsoft.com/office/drawing/2014/main" val="2970423789"/>
                    </a:ext>
                  </a:extLst>
                </a:gridCol>
                <a:gridCol w="783887">
                  <a:extLst>
                    <a:ext uri="{9D8B030D-6E8A-4147-A177-3AD203B41FA5}">
                      <a16:colId xmlns:a16="http://schemas.microsoft.com/office/drawing/2014/main" val="2064483765"/>
                    </a:ext>
                  </a:extLst>
                </a:gridCol>
              </a:tblGrid>
              <a:tr h="234033">
                <a:tc>
                  <a:txBody>
                    <a:bodyPr/>
                    <a:lstStyle/>
                    <a:p>
                      <a:pPr marL="74930">
                        <a:lnSpc>
                          <a:spcPct val="100000"/>
                        </a:lnSpc>
                        <a:buNone/>
                      </a:pPr>
                      <a:r>
                        <a:rPr lang="en-US" sz="1600" spc="-10" dirty="0">
                          <a:effectLst/>
                        </a:rPr>
                        <a:t>Metric</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 algn="ctr">
                        <a:lnSpc>
                          <a:spcPct val="100000"/>
                        </a:lnSpc>
                        <a:buNone/>
                      </a:pPr>
                      <a:r>
                        <a:rPr lang="en-US" sz="1600" spc="-10" dirty="0">
                          <a:effectLst/>
                        </a:rPr>
                        <a:t>Value</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250292098"/>
                  </a:ext>
                </a:extLst>
              </a:tr>
              <a:tr h="201018">
                <a:tc>
                  <a:txBody>
                    <a:bodyPr/>
                    <a:lstStyle/>
                    <a:p>
                      <a:pPr marL="74930">
                        <a:lnSpc>
                          <a:spcPct val="100000"/>
                        </a:lnSpc>
                        <a:buNone/>
                      </a:pPr>
                      <a:r>
                        <a:rPr lang="en-US" sz="1050" dirty="0">
                          <a:effectLst/>
                        </a:rPr>
                        <a:t>Sample</a:t>
                      </a:r>
                      <a:r>
                        <a:rPr lang="en-US" sz="1050" spc="50" dirty="0">
                          <a:effectLst/>
                        </a:rPr>
                        <a:t> </a:t>
                      </a:r>
                      <a:r>
                        <a:rPr lang="en-US" sz="1050" spc="-20" dirty="0">
                          <a:effectLst/>
                        </a:rPr>
                        <a:t>Size</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 algn="ctr">
                        <a:lnSpc>
                          <a:spcPct val="100000"/>
                        </a:lnSpc>
                        <a:buNone/>
                      </a:pPr>
                      <a:r>
                        <a:rPr lang="en-US" sz="1050" spc="-10" dirty="0">
                          <a:effectLst/>
                        </a:rPr>
                        <a:t>1,981</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683656063"/>
                  </a:ext>
                </a:extLst>
              </a:tr>
              <a:tr h="222112">
                <a:tc>
                  <a:txBody>
                    <a:bodyPr/>
                    <a:lstStyle/>
                    <a:p>
                      <a:pPr marL="74930">
                        <a:lnSpc>
                          <a:spcPct val="100000"/>
                        </a:lnSpc>
                        <a:buNone/>
                      </a:pPr>
                      <a:r>
                        <a:rPr lang="en-US" sz="1050" dirty="0">
                          <a:effectLst/>
                        </a:rPr>
                        <a:t>MAE</a:t>
                      </a:r>
                      <a:r>
                        <a:rPr lang="en-US" sz="1050" spc="55" dirty="0">
                          <a:effectLst/>
                        </a:rPr>
                        <a:t> </a:t>
                      </a:r>
                      <a:r>
                        <a:rPr lang="en-US" sz="1050" spc="-10" dirty="0">
                          <a:effectLst/>
                        </a:rPr>
                        <a:t>(months)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 algn="ctr">
                        <a:lnSpc>
                          <a:spcPct val="100000"/>
                        </a:lnSpc>
                        <a:buNone/>
                      </a:pPr>
                      <a:r>
                        <a:rPr lang="en-US" sz="1050" spc="-20" dirty="0">
                          <a:effectLst/>
                        </a:rPr>
                        <a:t>6.65</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497004816"/>
                  </a:ext>
                </a:extLst>
              </a:tr>
              <a:tr h="227076">
                <a:tc>
                  <a:txBody>
                    <a:bodyPr/>
                    <a:lstStyle/>
                    <a:p>
                      <a:pPr marL="74930">
                        <a:lnSpc>
                          <a:spcPct val="100000"/>
                        </a:lnSpc>
                        <a:buNone/>
                      </a:pPr>
                      <a:r>
                        <a:rPr lang="en-US" sz="1050">
                          <a:effectLst/>
                        </a:rPr>
                        <a:t>RMSE</a:t>
                      </a:r>
                      <a:r>
                        <a:rPr lang="en-US" sz="1050" spc="50">
                          <a:effectLst/>
                        </a:rPr>
                        <a:t> </a:t>
                      </a:r>
                      <a:r>
                        <a:rPr lang="en-US" sz="1050" spc="-10">
                          <a:effectLst/>
                        </a:rPr>
                        <a:t>(months)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 algn="ctr">
                        <a:lnSpc>
                          <a:spcPct val="100000"/>
                        </a:lnSpc>
                        <a:buNone/>
                      </a:pPr>
                      <a:r>
                        <a:rPr lang="en-US" sz="1050" spc="-10">
                          <a:effectLst/>
                        </a:rPr>
                        <a:t>15.01</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742157918"/>
                  </a:ext>
                </a:extLst>
              </a:tr>
              <a:tr h="227076">
                <a:tc>
                  <a:txBody>
                    <a:bodyPr/>
                    <a:lstStyle/>
                    <a:p>
                      <a:pPr marL="74930">
                        <a:lnSpc>
                          <a:spcPct val="100000"/>
                        </a:lnSpc>
                        <a:buNone/>
                      </a:pPr>
                      <a:r>
                        <a:rPr lang="en-US" sz="1050">
                          <a:effectLst/>
                        </a:rPr>
                        <a:t>R</a:t>
                      </a:r>
                      <a:r>
                        <a:rPr lang="en-US" sz="1050" baseline="30000">
                          <a:effectLst/>
                        </a:rPr>
                        <a:t>2</a:t>
                      </a:r>
                      <a:r>
                        <a:rPr lang="en-US" sz="1050" spc="95">
                          <a:effectLst/>
                        </a:rPr>
                        <a:t> </a:t>
                      </a:r>
                      <a:r>
                        <a:rPr lang="en-US" sz="1050">
                          <a:effectLst/>
                        </a:rPr>
                        <a:t>(in-</a:t>
                      </a:r>
                      <a:r>
                        <a:rPr lang="en-US" sz="1050" spc="-10">
                          <a:effectLst/>
                        </a:rPr>
                        <a:t>sample)</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 algn="ctr">
                        <a:lnSpc>
                          <a:spcPct val="100000"/>
                        </a:lnSpc>
                        <a:buNone/>
                      </a:pPr>
                      <a:r>
                        <a:rPr lang="en-US" sz="1050" spc="-10">
                          <a:effectLst/>
                        </a:rPr>
                        <a:t>0.961</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671015097"/>
                  </a:ext>
                </a:extLst>
              </a:tr>
              <a:tr h="222112">
                <a:tc>
                  <a:txBody>
                    <a:bodyPr/>
                    <a:lstStyle/>
                    <a:p>
                      <a:pPr marL="74930">
                        <a:lnSpc>
                          <a:spcPct val="100000"/>
                        </a:lnSpc>
                        <a:buNone/>
                      </a:pPr>
                      <a:r>
                        <a:rPr lang="en-US" sz="1050">
                          <a:effectLst/>
                        </a:rPr>
                        <a:t>MDAE</a:t>
                      </a:r>
                      <a:r>
                        <a:rPr lang="en-US" sz="1050" spc="15">
                          <a:effectLst/>
                        </a:rPr>
                        <a:t> </a:t>
                      </a:r>
                      <a:r>
                        <a:rPr lang="en-US" sz="1050" spc="-10">
                          <a:effectLst/>
                        </a:rPr>
                        <a:t>(months)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 algn="ctr">
                        <a:lnSpc>
                          <a:spcPct val="100000"/>
                        </a:lnSpc>
                        <a:buNone/>
                      </a:pPr>
                      <a:r>
                        <a:rPr lang="en-US" sz="1050" spc="-20">
                          <a:effectLst/>
                        </a:rPr>
                        <a:t>0.84</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72540212"/>
                  </a:ext>
                </a:extLst>
              </a:tr>
              <a:tr h="222112">
                <a:tc>
                  <a:txBody>
                    <a:bodyPr/>
                    <a:lstStyle/>
                    <a:p>
                      <a:pPr marL="74930">
                        <a:lnSpc>
                          <a:spcPct val="100000"/>
                        </a:lnSpc>
                        <a:buNone/>
                      </a:pPr>
                      <a:r>
                        <a:rPr lang="en-US" sz="1050">
                          <a:effectLst/>
                        </a:rPr>
                        <a:t>Within</a:t>
                      </a:r>
                      <a:r>
                        <a:rPr lang="en-US" sz="1050" spc="40">
                          <a:effectLst/>
                        </a:rPr>
                        <a:t> </a:t>
                      </a:r>
                      <a:r>
                        <a:rPr lang="en-US" sz="1050">
                          <a:effectLst/>
                        </a:rPr>
                        <a:t>±6</a:t>
                      </a:r>
                      <a:r>
                        <a:rPr lang="en-US" sz="1050" spc="45">
                          <a:effectLst/>
                        </a:rPr>
                        <a:t> </a:t>
                      </a:r>
                      <a:r>
                        <a:rPr lang="en-US" sz="1050" spc="-10">
                          <a:effectLst/>
                        </a:rPr>
                        <a:t>months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 algn="ctr">
                        <a:lnSpc>
                          <a:spcPct val="100000"/>
                        </a:lnSpc>
                        <a:buNone/>
                      </a:pPr>
                      <a:r>
                        <a:rPr lang="en-US" sz="1050" spc="-10">
                          <a:effectLst/>
                        </a:rPr>
                        <a:t>71.2%</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548893959"/>
                  </a:ext>
                </a:extLst>
              </a:tr>
              <a:tr h="222112">
                <a:tc>
                  <a:txBody>
                    <a:bodyPr/>
                    <a:lstStyle/>
                    <a:p>
                      <a:pPr marL="74930">
                        <a:lnSpc>
                          <a:spcPct val="100000"/>
                        </a:lnSpc>
                        <a:buNone/>
                      </a:pPr>
                      <a:r>
                        <a:rPr lang="en-US" sz="1050">
                          <a:effectLst/>
                        </a:rPr>
                        <a:t>Within</a:t>
                      </a:r>
                      <a:r>
                        <a:rPr lang="en-US" sz="1050" spc="40">
                          <a:effectLst/>
                        </a:rPr>
                        <a:t> </a:t>
                      </a:r>
                      <a:r>
                        <a:rPr lang="en-US" sz="1050">
                          <a:effectLst/>
                        </a:rPr>
                        <a:t>±12</a:t>
                      </a:r>
                      <a:r>
                        <a:rPr lang="en-US" sz="1050" spc="40">
                          <a:effectLst/>
                        </a:rPr>
                        <a:t> </a:t>
                      </a:r>
                      <a:r>
                        <a:rPr lang="en-US" sz="1050" spc="-10">
                          <a:effectLst/>
                        </a:rPr>
                        <a:t>months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 algn="ctr">
                        <a:lnSpc>
                          <a:spcPct val="100000"/>
                        </a:lnSpc>
                        <a:buNone/>
                      </a:pPr>
                      <a:r>
                        <a:rPr lang="en-US" sz="1050" spc="-10">
                          <a:effectLst/>
                        </a:rPr>
                        <a:t>83.3%</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258854101"/>
                  </a:ext>
                </a:extLst>
              </a:tr>
              <a:tr h="222112">
                <a:tc>
                  <a:txBody>
                    <a:bodyPr/>
                    <a:lstStyle/>
                    <a:p>
                      <a:pPr marL="74930">
                        <a:lnSpc>
                          <a:spcPct val="100000"/>
                        </a:lnSpc>
                        <a:buNone/>
                      </a:pPr>
                      <a:r>
                        <a:rPr lang="en-US" sz="1050">
                          <a:effectLst/>
                        </a:rPr>
                        <a:t>Cross-validated </a:t>
                      </a:r>
                      <a:r>
                        <a:rPr lang="en-US" sz="1050" spc="-25">
                          <a:effectLst/>
                        </a:rPr>
                        <a:t>MAE</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 algn="ctr">
                        <a:lnSpc>
                          <a:spcPct val="100000"/>
                        </a:lnSpc>
                        <a:buNone/>
                      </a:pPr>
                      <a:r>
                        <a:rPr lang="en-US" sz="1050" spc="-10">
                          <a:effectLst/>
                        </a:rPr>
                        <a:t>12.92</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29546078"/>
                  </a:ext>
                </a:extLst>
              </a:tr>
              <a:tr h="179448">
                <a:tc>
                  <a:txBody>
                    <a:bodyPr/>
                    <a:lstStyle/>
                    <a:p>
                      <a:pPr marL="74930">
                        <a:lnSpc>
                          <a:spcPct val="100000"/>
                        </a:lnSpc>
                        <a:buNone/>
                      </a:pPr>
                      <a:r>
                        <a:rPr lang="en-US" sz="1050">
                          <a:effectLst/>
                        </a:rPr>
                        <a:t>Cross-validated </a:t>
                      </a:r>
                      <a:r>
                        <a:rPr lang="en-US" sz="1050" spc="-20">
                          <a:effectLst/>
                        </a:rPr>
                        <a:t>RMSE</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 algn="ctr">
                        <a:lnSpc>
                          <a:spcPct val="100000"/>
                        </a:lnSpc>
                        <a:buNone/>
                      </a:pPr>
                      <a:r>
                        <a:rPr lang="en-US" sz="1050" spc="-10" dirty="0">
                          <a:effectLst/>
                        </a:rPr>
                        <a:t>27.60</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769477367"/>
                  </a:ext>
                </a:extLst>
              </a:tr>
              <a:tr h="153584">
                <a:tc>
                  <a:txBody>
                    <a:bodyPr/>
                    <a:lstStyle/>
                    <a:p>
                      <a:pPr marL="74930">
                        <a:lnSpc>
                          <a:spcPct val="100000"/>
                        </a:lnSpc>
                        <a:buNone/>
                      </a:pPr>
                      <a:r>
                        <a:rPr lang="en-US" sz="1050">
                          <a:effectLst/>
                        </a:rPr>
                        <a:t>Cross-validated </a:t>
                      </a:r>
                      <a:r>
                        <a:rPr lang="en-US" sz="1050" spc="-25">
                          <a:effectLst/>
                        </a:rPr>
                        <a:t>R</a:t>
                      </a:r>
                      <a:r>
                        <a:rPr lang="en-US" sz="1050" spc="-25" baseline="30000">
                          <a:effectLst/>
                        </a:rPr>
                        <a:t>2</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 algn="ctr">
                        <a:lnSpc>
                          <a:spcPct val="100000"/>
                        </a:lnSpc>
                        <a:buNone/>
                      </a:pPr>
                      <a:r>
                        <a:rPr lang="en-US" sz="1050" spc="-10" dirty="0">
                          <a:effectLst/>
                        </a:rPr>
                        <a:t>0.868</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537047716"/>
                  </a:ext>
                </a:extLst>
              </a:tr>
            </a:tbl>
          </a:graphicData>
        </a:graphic>
      </p:graphicFrame>
      <p:sp>
        <p:nvSpPr>
          <p:cNvPr id="9" name="TextBox 8">
            <a:extLst>
              <a:ext uri="{FF2B5EF4-FFF2-40B4-BE49-F238E27FC236}">
                <a16:creationId xmlns:a16="http://schemas.microsoft.com/office/drawing/2014/main" id="{4FFFF834-0344-5979-3E65-82759C5380A6}"/>
              </a:ext>
            </a:extLst>
          </p:cNvPr>
          <p:cNvSpPr txBox="1"/>
          <p:nvPr/>
        </p:nvSpPr>
        <p:spPr>
          <a:xfrm>
            <a:off x="2878822" y="4368025"/>
            <a:ext cx="2754351" cy="523220"/>
          </a:xfrm>
          <a:prstGeom prst="rect">
            <a:avLst/>
          </a:prstGeom>
          <a:noFill/>
        </p:spPr>
        <p:txBody>
          <a:bodyPr wrap="square">
            <a:spAutoFit/>
          </a:bodyPr>
          <a:lstStyle/>
          <a:p>
            <a:pPr algn="ctr"/>
            <a:r>
              <a:rPr lang="en-US" sz="1400" cap="small" dirty="0">
                <a:effectLst/>
                <a:latin typeface="Times New Roman" panose="02020603050405020304" pitchFamily="18" charset="0"/>
                <a:ea typeface="Times New Roman" panose="02020603050405020304" pitchFamily="18" charset="0"/>
              </a:rPr>
              <a:t>Regression</a:t>
            </a:r>
            <a:r>
              <a:rPr lang="en-US" sz="1400" cap="small" spc="210" dirty="0">
                <a:effectLst/>
                <a:latin typeface="Times New Roman" panose="02020603050405020304" pitchFamily="18" charset="0"/>
                <a:ea typeface="Times New Roman" panose="02020603050405020304" pitchFamily="18" charset="0"/>
              </a:rPr>
              <a:t> </a:t>
            </a:r>
            <a:r>
              <a:rPr lang="en-US" sz="1400" cap="small" dirty="0">
                <a:effectLst/>
                <a:latin typeface="Times New Roman" panose="02020603050405020304" pitchFamily="18" charset="0"/>
                <a:ea typeface="Times New Roman" panose="02020603050405020304" pitchFamily="18" charset="0"/>
              </a:rPr>
              <a:t>Metrics</a:t>
            </a:r>
            <a:r>
              <a:rPr lang="en-US" sz="1400" cap="small" spc="215" dirty="0">
                <a:effectLst/>
                <a:latin typeface="Times New Roman" panose="02020603050405020304" pitchFamily="18" charset="0"/>
                <a:ea typeface="Times New Roman" panose="02020603050405020304" pitchFamily="18" charset="0"/>
              </a:rPr>
              <a:t> </a:t>
            </a:r>
            <a:r>
              <a:rPr lang="en-US" sz="1400" cap="small" dirty="0">
                <a:effectLst/>
                <a:latin typeface="Times New Roman" panose="02020603050405020304" pitchFamily="18" charset="0"/>
                <a:ea typeface="Times New Roman" panose="02020603050405020304" pitchFamily="18" charset="0"/>
              </a:rPr>
              <a:t>on</a:t>
            </a:r>
            <a:r>
              <a:rPr lang="en-US" sz="1400" cap="small" spc="210" dirty="0">
                <a:effectLst/>
                <a:latin typeface="Times New Roman" panose="02020603050405020304" pitchFamily="18" charset="0"/>
                <a:ea typeface="Times New Roman" panose="02020603050405020304" pitchFamily="18" charset="0"/>
              </a:rPr>
              <a:t> </a:t>
            </a:r>
            <a:r>
              <a:rPr lang="en-US" sz="1400" cap="small" dirty="0">
                <a:effectLst/>
                <a:latin typeface="Times New Roman" panose="02020603050405020304" pitchFamily="18" charset="0"/>
                <a:ea typeface="Times New Roman" panose="02020603050405020304" pitchFamily="18" charset="0"/>
              </a:rPr>
              <a:t>METABRIC</a:t>
            </a:r>
            <a:r>
              <a:rPr lang="en-US" sz="1400" cap="small" spc="160" dirty="0">
                <a:effectLst/>
                <a:latin typeface="Times New Roman" panose="02020603050405020304" pitchFamily="18" charset="0"/>
                <a:ea typeface="Times New Roman" panose="02020603050405020304" pitchFamily="18" charset="0"/>
              </a:rPr>
              <a:t> </a:t>
            </a:r>
            <a:r>
              <a:rPr lang="en-US" sz="1400" cap="small" dirty="0">
                <a:effectLst/>
                <a:latin typeface="Times New Roman" panose="02020603050405020304" pitchFamily="18" charset="0"/>
                <a:ea typeface="Times New Roman" panose="02020603050405020304" pitchFamily="18" charset="0"/>
              </a:rPr>
              <a:t>(Random</a:t>
            </a:r>
            <a:r>
              <a:rPr lang="en-US" sz="1400" cap="small" spc="215" dirty="0">
                <a:effectLst/>
                <a:latin typeface="Times New Roman" panose="02020603050405020304" pitchFamily="18" charset="0"/>
                <a:ea typeface="Times New Roman" panose="02020603050405020304" pitchFamily="18" charset="0"/>
              </a:rPr>
              <a:t> </a:t>
            </a:r>
            <a:r>
              <a:rPr lang="en-US" sz="1400" cap="small" spc="-10" dirty="0">
                <a:effectLst/>
                <a:latin typeface="Times New Roman" panose="02020603050405020304" pitchFamily="18" charset="0"/>
                <a:ea typeface="Times New Roman" panose="02020603050405020304" pitchFamily="18" charset="0"/>
              </a:rPr>
              <a:t>Forest)</a:t>
            </a:r>
            <a:endParaRPr lang="en-IN" dirty="0"/>
          </a:p>
        </p:txBody>
      </p:sp>
      <p:pic>
        <p:nvPicPr>
          <p:cNvPr id="10" name="Image 5">
            <a:extLst>
              <a:ext uri="{FF2B5EF4-FFF2-40B4-BE49-F238E27FC236}">
                <a16:creationId xmlns:a16="http://schemas.microsoft.com/office/drawing/2014/main" id="{613AB11D-3B46-DF04-7662-A0E2FD86F070}"/>
              </a:ext>
            </a:extLst>
          </p:cNvPr>
          <p:cNvPicPr>
            <a:picLocks/>
          </p:cNvPicPr>
          <p:nvPr/>
        </p:nvPicPr>
        <p:blipFill>
          <a:blip r:embed="rId2" cstate="print"/>
          <a:stretch>
            <a:fillRect/>
          </a:stretch>
        </p:blipFill>
        <p:spPr>
          <a:xfrm>
            <a:off x="5845216" y="962660"/>
            <a:ext cx="3042285" cy="3218180"/>
          </a:xfrm>
          <a:prstGeom prst="rect">
            <a:avLst/>
          </a:prstGeom>
        </p:spPr>
      </p:pic>
      <p:sp>
        <p:nvSpPr>
          <p:cNvPr id="12" name="TextBox 11">
            <a:extLst>
              <a:ext uri="{FF2B5EF4-FFF2-40B4-BE49-F238E27FC236}">
                <a16:creationId xmlns:a16="http://schemas.microsoft.com/office/drawing/2014/main" id="{BD898ECF-DDAE-AEE0-A4E8-8CC0324245D5}"/>
              </a:ext>
            </a:extLst>
          </p:cNvPr>
          <p:cNvSpPr txBox="1"/>
          <p:nvPr/>
        </p:nvSpPr>
        <p:spPr>
          <a:xfrm>
            <a:off x="5845215" y="4180840"/>
            <a:ext cx="3042286" cy="712887"/>
          </a:xfrm>
          <a:prstGeom prst="rect">
            <a:avLst/>
          </a:prstGeom>
          <a:noFill/>
        </p:spPr>
        <p:txBody>
          <a:bodyPr wrap="square">
            <a:spAutoFit/>
          </a:bodyPr>
          <a:lstStyle/>
          <a:p>
            <a:pPr marL="164465">
              <a:lnSpc>
                <a:spcPct val="96000"/>
              </a:lnSpc>
              <a:spcBef>
                <a:spcPts val="895"/>
              </a:spcBef>
              <a:buNone/>
            </a:pPr>
            <a:r>
              <a:rPr lang="en-US" sz="1400" dirty="0" err="1">
                <a:effectLst/>
                <a:latin typeface="Times New Roman" panose="02020603050405020304" pitchFamily="18" charset="0"/>
                <a:ea typeface="Times New Roman" panose="02020603050405020304" pitchFamily="18" charset="0"/>
              </a:rPr>
              <a:t>Streamlit</a:t>
            </a:r>
            <a:r>
              <a:rPr lang="en-US" sz="1400" dirty="0">
                <a:effectLst/>
                <a:latin typeface="Times New Roman" panose="02020603050405020304" pitchFamily="18" charset="0"/>
                <a:ea typeface="Times New Roman" panose="02020603050405020304" pitchFamily="18" charset="0"/>
              </a:rPr>
              <a:t> UI: displays predictions, SHAP force plot,</a:t>
            </a:r>
            <a:r>
              <a:rPr lang="en-US" sz="1400" spc="200"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and customizable export for clinician workflow</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02103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B3459-BC83-FBF0-DC2B-4879EFA9471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DA944A1B-D0D3-F9B7-AD53-A1A686E75678}"/>
              </a:ext>
            </a:extLst>
          </p:cNvPr>
          <p:cNvSpPr>
            <a:spLocks noGrp="1"/>
          </p:cNvSpPr>
          <p:nvPr>
            <p:ph type="body" idx="1"/>
          </p:nvPr>
        </p:nvSpPr>
        <p:spPr/>
        <p:txBody>
          <a:bodyPr/>
          <a:lstStyle/>
          <a:p>
            <a:pPr marL="146050" indent="0" algn="just">
              <a:buNone/>
            </a:pPr>
            <a:r>
              <a:rPr lang="en-US" dirty="0">
                <a:latin typeface="Times New Roman" panose="02020603050405020304" pitchFamily="18" charset="0"/>
                <a:cs typeface="Times New Roman" panose="02020603050405020304" pitchFamily="18" charset="0"/>
              </a:rPr>
              <a:t>This study presents an interpretable machine learning framework for predicting breast cancer survival using the METABRIC dataset. A combination of Random Forest models and SHAP enables both high predictive accuracy and model transparency. The classification model achieved strong performance (ROC-AUC = 0.991), while the regression model demonstrated high survival time prediction accuracy (R² = 0.961). SHAP analysis identified key predictors such as age, tumor grade, and relapse status. Although external validation is required, the framework highlights the potential of explainable ensemble learning for clinical decision support in precision oncology.</a:t>
            </a:r>
          </a:p>
          <a:p>
            <a:pPr marL="14605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1746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CEB06-0EB4-1DCB-BE83-FFDE679C6E35}"/>
              </a:ext>
            </a:extLst>
          </p:cNvPr>
          <p:cNvSpPr>
            <a:spLocks noGrp="1"/>
          </p:cNvSpPr>
          <p:nvPr>
            <p:ph type="ctrTitle"/>
          </p:nvPr>
        </p:nvSpPr>
        <p:spPr>
          <a:xfrm>
            <a:off x="729450" y="1322450"/>
            <a:ext cx="7983370" cy="419550"/>
          </a:xfrm>
        </p:spPr>
        <p:txBody>
          <a:bodyPr/>
          <a:lstStyle/>
          <a:p>
            <a:r>
              <a:rPr lang="en-US" sz="1600" dirty="0">
                <a:latin typeface="Times New Roman" panose="02020603050405020304" pitchFamily="18" charset="0"/>
                <a:cs typeface="Times New Roman" panose="02020603050405020304" pitchFamily="18" charset="0"/>
              </a:rPr>
              <a:t>REFERENCES</a:t>
            </a:r>
            <a:endParaRPr lang="en-IN" sz="1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E372F45-5734-D79D-D030-29CBE1898853}"/>
              </a:ext>
            </a:extLst>
          </p:cNvPr>
          <p:cNvSpPr>
            <a:spLocks noGrp="1"/>
          </p:cNvSpPr>
          <p:nvPr>
            <p:ph type="subTitle" idx="1"/>
          </p:nvPr>
        </p:nvSpPr>
        <p:spPr>
          <a:xfrm>
            <a:off x="729450" y="1836612"/>
            <a:ext cx="7723029" cy="2936109"/>
          </a:xfrm>
        </p:spPr>
        <p:txBody>
          <a:bodyPr/>
          <a:lstStyle/>
          <a:p>
            <a:pPr marL="431800" indent="-285750" algn="just">
              <a:spcBef>
                <a:spcPts val="50"/>
              </a:spcBef>
              <a:spcAft>
                <a:spcPts val="50"/>
              </a:spcAft>
              <a:buFont typeface="Arial" panose="020B0604020202020204" pitchFamily="34" charset="0"/>
              <a:buChar char="•"/>
            </a:pPr>
            <a:r>
              <a:rPr lang="en-US" sz="1400" dirty="0">
                <a:solidFill>
                  <a:schemeClr val="bg2"/>
                </a:solidFill>
                <a:latin typeface="Times New Roman" panose="02020603050405020304" pitchFamily="18" charset="0"/>
                <a:cs typeface="Times New Roman" panose="02020603050405020304" pitchFamily="18" charset="0"/>
              </a:rPr>
              <a:t>Dhillon, P. K. (2009). Breast cancer factsheet. Mortality, 11(12.5), 10-8. </a:t>
            </a:r>
          </a:p>
          <a:p>
            <a:pPr marL="431800" indent="-285750" algn="just">
              <a:spcBef>
                <a:spcPts val="50"/>
              </a:spcBef>
              <a:spcAft>
                <a:spcPts val="50"/>
              </a:spcAft>
              <a:buFont typeface="Arial" panose="020B0604020202020204" pitchFamily="34" charset="0"/>
              <a:buChar char="•"/>
            </a:pPr>
            <a:r>
              <a:rPr lang="en-US" sz="1400" dirty="0">
                <a:solidFill>
                  <a:schemeClr val="bg2"/>
                </a:solidFill>
                <a:latin typeface="Times New Roman" panose="02020603050405020304" pitchFamily="18" charset="0"/>
                <a:cs typeface="Times New Roman" panose="02020603050405020304" pitchFamily="18" charset="0"/>
              </a:rPr>
              <a:t>Giaquinto, A. N., Sung, H., Newman, L. A., Freedman, R. A., Smith, R. A., Star, J., ... &amp; Siegel, R. L. (2024). Breast cancer statistics 2024. CA: a cancer journal for clinicians, 74(6), 477-495.</a:t>
            </a:r>
          </a:p>
          <a:p>
            <a:pPr marL="431800" indent="-285750" algn="just">
              <a:spcBef>
                <a:spcPts val="50"/>
              </a:spcBef>
              <a:spcAft>
                <a:spcPts val="50"/>
              </a:spcAft>
              <a:buFont typeface="Arial" panose="020B0604020202020204" pitchFamily="34" charset="0"/>
              <a:buChar char="•"/>
            </a:pPr>
            <a:r>
              <a:rPr lang="en-US" sz="1400" dirty="0">
                <a:solidFill>
                  <a:schemeClr val="bg2"/>
                </a:solidFill>
                <a:latin typeface="Times New Roman" panose="02020603050405020304" pitchFamily="18" charset="0"/>
                <a:cs typeface="Times New Roman" panose="02020603050405020304" pitchFamily="18" charset="0"/>
              </a:rPr>
              <a:t>Jemal, A., Bray, F., Center, M. M., </a:t>
            </a:r>
            <a:r>
              <a:rPr lang="en-US" sz="1400" dirty="0" err="1">
                <a:solidFill>
                  <a:schemeClr val="bg2"/>
                </a:solidFill>
                <a:latin typeface="Times New Roman" panose="02020603050405020304" pitchFamily="18" charset="0"/>
                <a:cs typeface="Times New Roman" panose="02020603050405020304" pitchFamily="18" charset="0"/>
              </a:rPr>
              <a:t>Ferlay</a:t>
            </a:r>
            <a:r>
              <a:rPr lang="en-US" sz="1400" dirty="0">
                <a:solidFill>
                  <a:schemeClr val="bg2"/>
                </a:solidFill>
                <a:latin typeface="Times New Roman" panose="02020603050405020304" pitchFamily="18" charset="0"/>
                <a:cs typeface="Times New Roman" panose="02020603050405020304" pitchFamily="18" charset="0"/>
              </a:rPr>
              <a:t>, J., Ward, E., &amp; Forman, D. (2011). Global cancer statistics. CA: a cancer journal for clinicians, 61(2), 69-90. </a:t>
            </a:r>
          </a:p>
          <a:p>
            <a:pPr marL="431800" indent="-285750" algn="just">
              <a:spcBef>
                <a:spcPts val="50"/>
              </a:spcBef>
              <a:spcAft>
                <a:spcPts val="50"/>
              </a:spcAft>
              <a:buFont typeface="Arial" panose="020B0604020202020204" pitchFamily="34" charset="0"/>
              <a:buChar char="•"/>
            </a:pPr>
            <a:r>
              <a:rPr lang="en-US" sz="1400" dirty="0">
                <a:solidFill>
                  <a:schemeClr val="bg2"/>
                </a:solidFill>
                <a:latin typeface="Times New Roman" panose="02020603050405020304" pitchFamily="18" charset="0"/>
                <a:cs typeface="Times New Roman" panose="02020603050405020304" pitchFamily="18" charset="0"/>
              </a:rPr>
              <a:t>Curtis, C., Shah, S. P., Chin, S. F., Turashvili, G., Rueda, O. M., Dunning, M. J., ... &amp; British Columbia Cancer Agency Aparicio Samuel </a:t>
            </a:r>
            <a:r>
              <a:rPr lang="en-US" sz="1400" dirty="0" err="1">
                <a:solidFill>
                  <a:schemeClr val="bg2"/>
                </a:solidFill>
                <a:latin typeface="Times New Roman" panose="02020603050405020304" pitchFamily="18" charset="0"/>
                <a:cs typeface="Times New Roman" panose="02020603050405020304" pitchFamily="18" charset="0"/>
              </a:rPr>
              <a:t>saparicio</a:t>
            </a:r>
            <a:r>
              <a:rPr lang="en-US" sz="1400" dirty="0">
                <a:solidFill>
                  <a:schemeClr val="bg2"/>
                </a:solidFill>
                <a:latin typeface="Times New Roman" panose="02020603050405020304" pitchFamily="18" charset="0"/>
                <a:cs typeface="Times New Roman" panose="02020603050405020304" pitchFamily="18" charset="0"/>
              </a:rPr>
              <a:t>@ </a:t>
            </a:r>
            <a:r>
              <a:rPr lang="en-US" sz="1400" dirty="0" err="1">
                <a:solidFill>
                  <a:schemeClr val="bg2"/>
                </a:solidFill>
                <a:latin typeface="Times New Roman" panose="02020603050405020304" pitchFamily="18" charset="0"/>
                <a:cs typeface="Times New Roman" panose="02020603050405020304" pitchFamily="18" charset="0"/>
              </a:rPr>
              <a:t>bccrc</a:t>
            </a:r>
            <a:r>
              <a:rPr lang="en-US" sz="1400" dirty="0">
                <a:solidFill>
                  <a:schemeClr val="bg2"/>
                </a:solidFill>
                <a:latin typeface="Times New Roman" panose="02020603050405020304" pitchFamily="18" charset="0"/>
                <a:cs typeface="Times New Roman" panose="02020603050405020304" pitchFamily="18" charset="0"/>
              </a:rPr>
              <a:t>. ca 17 18 b Shah Sohrab P. 17 18 </a:t>
            </a:r>
            <a:r>
              <a:rPr lang="en-US" sz="1400" dirty="0" err="1">
                <a:solidFill>
                  <a:schemeClr val="bg2"/>
                </a:solidFill>
                <a:latin typeface="Times New Roman" panose="02020603050405020304" pitchFamily="18" charset="0"/>
                <a:cs typeface="Times New Roman" panose="02020603050405020304" pitchFamily="18" charset="0"/>
              </a:rPr>
              <a:t>Bashashati</a:t>
            </a:r>
            <a:r>
              <a:rPr lang="en-US" sz="1400" dirty="0">
                <a:solidFill>
                  <a:schemeClr val="bg2"/>
                </a:solidFill>
                <a:latin typeface="Times New Roman" panose="02020603050405020304" pitchFamily="18" charset="0"/>
                <a:cs typeface="Times New Roman" panose="02020603050405020304" pitchFamily="18" charset="0"/>
              </a:rPr>
              <a:t> Ali 17 Ha Gavin 17 </a:t>
            </a:r>
            <a:r>
              <a:rPr lang="en-US" sz="1400" dirty="0" err="1">
                <a:solidFill>
                  <a:schemeClr val="bg2"/>
                </a:solidFill>
                <a:latin typeface="Times New Roman" panose="02020603050405020304" pitchFamily="18" charset="0"/>
                <a:cs typeface="Times New Roman" panose="02020603050405020304" pitchFamily="18" charset="0"/>
              </a:rPr>
              <a:t>Haffari</a:t>
            </a:r>
            <a:r>
              <a:rPr lang="en-US" sz="1400" dirty="0">
                <a:solidFill>
                  <a:schemeClr val="bg2"/>
                </a:solidFill>
                <a:latin typeface="Times New Roman" panose="02020603050405020304" pitchFamily="18" charset="0"/>
                <a:cs typeface="Times New Roman" panose="02020603050405020304" pitchFamily="18" charset="0"/>
              </a:rPr>
              <a:t> Gholamreza 17 McKinney Steven 17 18. (2012). The genomic and transcriptomic architecture of 2,000 breast </a:t>
            </a:r>
            <a:r>
              <a:rPr lang="en-US" sz="1400" dirty="0" err="1">
                <a:solidFill>
                  <a:schemeClr val="bg2"/>
                </a:solidFill>
                <a:latin typeface="Times New Roman" panose="02020603050405020304" pitchFamily="18" charset="0"/>
                <a:cs typeface="Times New Roman" panose="02020603050405020304" pitchFamily="18" charset="0"/>
              </a:rPr>
              <a:t>tumours</a:t>
            </a:r>
            <a:r>
              <a:rPr lang="en-US" sz="1400" dirty="0">
                <a:solidFill>
                  <a:schemeClr val="bg2"/>
                </a:solidFill>
                <a:latin typeface="Times New Roman" panose="02020603050405020304" pitchFamily="18" charset="0"/>
                <a:cs typeface="Times New Roman" panose="02020603050405020304" pitchFamily="18" charset="0"/>
              </a:rPr>
              <a:t> reveals novel subgroups. Nature, 486(7403), 346-352. </a:t>
            </a:r>
          </a:p>
          <a:p>
            <a:pPr marL="431800" indent="-285750" algn="just">
              <a:spcBef>
                <a:spcPts val="50"/>
              </a:spcBef>
              <a:spcAft>
                <a:spcPts val="50"/>
              </a:spcAft>
              <a:buFont typeface="Arial" panose="020B0604020202020204" pitchFamily="34" charset="0"/>
              <a:buChar char="•"/>
            </a:pPr>
            <a:r>
              <a:rPr lang="en-US" sz="1400" dirty="0">
                <a:solidFill>
                  <a:schemeClr val="bg2"/>
                </a:solidFill>
                <a:latin typeface="Times New Roman" panose="02020603050405020304" pitchFamily="18" charset="0"/>
                <a:cs typeface="Times New Roman" panose="02020603050405020304" pitchFamily="18" charset="0"/>
              </a:rPr>
              <a:t>Ghasemi, A., </a:t>
            </a:r>
            <a:r>
              <a:rPr lang="en-US" sz="1400" dirty="0" err="1">
                <a:solidFill>
                  <a:schemeClr val="bg2"/>
                </a:solidFill>
                <a:latin typeface="Times New Roman" panose="02020603050405020304" pitchFamily="18" charset="0"/>
                <a:cs typeface="Times New Roman" panose="02020603050405020304" pitchFamily="18" charset="0"/>
              </a:rPr>
              <a:t>Hashtarkhani</a:t>
            </a:r>
            <a:r>
              <a:rPr lang="en-US" sz="1400" dirty="0">
                <a:solidFill>
                  <a:schemeClr val="bg2"/>
                </a:solidFill>
                <a:latin typeface="Times New Roman" panose="02020603050405020304" pitchFamily="18" charset="0"/>
                <a:cs typeface="Times New Roman" panose="02020603050405020304" pitchFamily="18" charset="0"/>
              </a:rPr>
              <a:t>, S., Schwartz, D. L., &amp; Shaban‐Nejad, A. (2024). Explainable artificial intelligence in breast cancer detection and risk prediction: A systematic scoping review. Cancer Innovation, 3(5), e136. </a:t>
            </a:r>
          </a:p>
        </p:txBody>
      </p:sp>
    </p:spTree>
    <p:extLst>
      <p:ext uri="{BB962C8B-B14F-4D97-AF65-F5344CB8AC3E}">
        <p14:creationId xmlns:p14="http://schemas.microsoft.com/office/powerpoint/2010/main" val="708507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5"/>
          <p:cNvSpPr txBox="1"/>
          <p:nvPr/>
        </p:nvSpPr>
        <p:spPr>
          <a:xfrm>
            <a:off x="955819" y="1652850"/>
            <a:ext cx="7232361" cy="183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800" b="1" dirty="0">
                <a:solidFill>
                  <a:schemeClr val="dk2"/>
                </a:solidFill>
                <a:latin typeface="Times New Roman"/>
                <a:ea typeface="Times New Roman"/>
                <a:cs typeface="Times New Roman"/>
                <a:sym typeface="Times New Roman"/>
              </a:rPr>
              <a:t>THANK YOU</a:t>
            </a:r>
            <a:endParaRPr sz="8800" b="1" dirty="0">
              <a:solidFill>
                <a:schemeClr val="dk2"/>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TotalTime>
  <Words>1251</Words>
  <Application>Microsoft Office PowerPoint</Application>
  <PresentationFormat>On-screen Show (16:9)</PresentationFormat>
  <Paragraphs>123</Paragraphs>
  <Slides>12</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Lato</vt:lpstr>
      <vt:lpstr>Times New Roman</vt:lpstr>
      <vt:lpstr>Raleway</vt:lpstr>
      <vt:lpstr>Arial</vt:lpstr>
      <vt:lpstr>Streamline</vt:lpstr>
      <vt:lpstr>SHAP-ENHANCED GENOMIC ANALYSIS FOR  PRECISION MEDICINE A CLINICAL CASE STUDY</vt:lpstr>
      <vt:lpstr>INTRODUCTION</vt:lpstr>
      <vt:lpstr>INTRODUCTION</vt:lpstr>
      <vt:lpstr>RESEARCH GAPS</vt:lpstr>
      <vt:lpstr>MATERIALS AND METHODS</vt:lpstr>
      <vt:lpstr>SIGNIFICANCE OF THE PROPOSED SYSTEM</vt:lpstr>
      <vt:lpstr>RESULTS AND DISCUSSION</vt:lpstr>
      <vt:lpstr>PowerPoint Presentation</vt:lpstr>
      <vt:lpstr>PowerPoint Presentation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vaishnavi pashikanti</cp:lastModifiedBy>
  <cp:revision>6</cp:revision>
  <dcterms:modified xsi:type="dcterms:W3CDTF">2026-03-12T15:12:12Z</dcterms:modified>
</cp:coreProperties>
</file>